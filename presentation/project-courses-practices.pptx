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how the base was built and what came out of it. About 15 to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universities in the USA and one in Singapore. Five courses are about AI tools themselves; seven are regular software engineering or design courses that allow AI. Eight courses have a team project; in seven, students choose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does two jobs: it lets a reader find the exact fragment, and it shows the words the course uses. The details paragraph uses common terms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course, MIT, has an instructor essay with personal observations. One, CMU 15-113, published student survey data. Four courses have no reflection at all. So the base tells us what courses do, rarely how it worked. Everything is public on GitHub as plain Markdown.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hypotheses about what matters. A practice was selected only when the course file states the mechanism and the link to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35 percent selection rate is expected: many practices are about teamwork, grading logistics, or tooling that does not touch the ideas. Thirteen of the 97 are marked as an inferred link: the course states the mechanism but gives no AI reason. Borderline cases are listed with a reason for exclusion.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7 is marked as an inferred link: the courses justify it with industry practice, not with AI. Eight more generalized practices are used by one to three courses: selecting from LLM-generated lists, limits on agent autonomy, LLM as critic, project idea checked by people, small steps, re-prompting only, a personal floor on each kind of work, and the student survey report. The next slides go through all thirteen.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of twelve courses. The most common form is a policy statement; MIT and UCSD turn it into a graded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radical experiment in the base: the student is deliberately made an operator, not an author. The same base contains the counter-evidence: students in the hands-off assignment stopped reading their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caveats: the base records rules, not outcomes; frequency is not evidence of correctness; tracking the same courses over the next years will show what was dropped, what replaced it, and what new practices 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xoposhiy/project-courses-research"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xoposhiy/project-courses-research"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0"/>
        </a:solidFill>
      </p:bgPr>
    </p:bg>
    <p:spTree>
      <p:nvGrpSpPr>
        <p:cNvPr id="1" name=""/>
        <p:cNvGrpSpPr/>
        <p:nvPr/>
      </p:nvGrpSpPr>
      <p:grpSpPr>
        <a:xfrm>
          <a:off x="0" y="0"/>
          <a:ext cx="0" cy="0"/>
          <a:chOff x="0" y="0"/>
          <a:chExt cx="0" cy="0"/>
        </a:xfrm>
      </p:grpSpPr>
      <p:sp>
        <p:nvSpPr>
          <p:cNvPr id="2" name="Text 0"/>
          <p:cNvSpPr/>
          <p:nvPr/>
        </p:nvSpPr>
        <p:spPr>
          <a:xfrm>
            <a:off x="640080" y="1371600"/>
            <a:ext cx="10911535"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Teaching Software Projects</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with AI Tools</a:t>
            </a:r>
            <a:endParaRPr lang="en-US" sz="4800" dirty="0"/>
          </a:p>
        </p:txBody>
      </p:sp>
      <p:sp>
        <p:nvSpPr>
          <p:cNvPr id="3" name="Text 1"/>
          <p:cNvSpPr/>
          <p:nvPr/>
        </p:nvSpPr>
        <p:spPr>
          <a:xfrm>
            <a:off x="640080" y="3566160"/>
            <a:ext cx="10911535" cy="640080"/>
          </a:xfrm>
          <a:prstGeom prst="rect">
            <a:avLst/>
          </a:prstGeom>
          <a:noFill/>
          <a:ln/>
        </p:spPr>
        <p:txBody>
          <a:bodyPr wrap="square" lIns="0" tIns="0" rIns="0" bIns="0" rtlCol="0" anchor="ctr"/>
          <a:lstStyle/>
          <a:p>
            <a:pPr indent="0" marL="0">
              <a:buNone/>
            </a:pPr>
            <a:r>
              <a:rPr lang="en-US" sz="2600" dirty="0">
                <a:solidFill>
                  <a:srgbClr val="CFE3EC"/>
                </a:solidFill>
                <a:latin typeface="Calibri" pitchFamily="34" charset="0"/>
                <a:ea typeface="Calibri" pitchFamily="34" charset="-122"/>
                <a:cs typeface="Calibri" pitchFamily="34" charset="-120"/>
              </a:rPr>
              <a:t>Practices from 12 university courses, academic year 2025/26</a:t>
            </a:r>
            <a:endParaRPr lang="en-US" sz="2600" dirty="0"/>
          </a:p>
        </p:txBody>
      </p:sp>
      <p:sp>
        <p:nvSpPr>
          <p:cNvPr id="4" name="Text 2"/>
          <p:cNvSpPr/>
          <p:nvPr/>
        </p:nvSpPr>
        <p:spPr>
          <a:xfrm>
            <a:off x="640080" y="5760720"/>
            <a:ext cx="10911535" cy="457200"/>
          </a:xfrm>
          <a:prstGeom prst="rect">
            <a:avLst/>
          </a:prstGeom>
          <a:noFill/>
          <a:ln/>
        </p:spPr>
        <p:txBody>
          <a:bodyPr wrap="square" lIns="0" tIns="0" rIns="0" bIns="0" rtlCol="0" anchor="ctr"/>
          <a:lstStyle/>
          <a:p>
            <a:pPr indent="0" marL="0">
              <a:buNone/>
            </a:pPr>
            <a:r>
              <a:rPr lang="en-US" sz="1800" dirty="0">
                <a:solidFill>
                  <a:srgbClr val="9FB3BE"/>
                </a:solidFill>
                <a:latin typeface="Calibri" pitchFamily="34" charset="0"/>
                <a:ea typeface="Calibri" pitchFamily="34" charset="-122"/>
                <a:cs typeface="Calibri" pitchFamily="34" charset="-120"/>
              </a:rPr>
              <a:t>Pavel Egorov  ·  September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12 courses, 9 universities, one academic year</a:t>
            </a:r>
            <a:endParaRPr lang="en-US" sz="3600" dirty="0"/>
          </a:p>
        </p:txBody>
      </p:sp>
      <p:sp>
        <p:nvSpPr>
          <p:cNvPr id="3" name="Text 1"/>
          <p:cNvSpPr/>
          <p:nvPr/>
        </p:nvSpPr>
        <p:spPr>
          <a:xfrm>
            <a:off x="640080" y="1463040"/>
            <a:ext cx="5272888" cy="457200"/>
          </a:xfrm>
          <a:prstGeom prst="rect">
            <a:avLst/>
          </a:prstGeom>
          <a:noFill/>
          <a:ln/>
        </p:spPr>
        <p:txBody>
          <a:bodyPr wrap="square" lIns="0" tIns="0" rIns="0" bIns="0" rtlCol="0" anchor="ctr"/>
          <a:lstStyle/>
          <a:p>
            <a:pPr indent="0" marL="0">
              <a:buNone/>
            </a:pPr>
            <a:r>
              <a:rPr lang="en-US" sz="2000" b="1" dirty="0">
                <a:solidFill>
                  <a:srgbClr val="1D6F8B"/>
                </a:solidFill>
                <a:latin typeface="Calibri" pitchFamily="34" charset="0"/>
                <a:ea typeface="Calibri" pitchFamily="34" charset="-122"/>
                <a:cs typeface="Calibri" pitchFamily="34" charset="-120"/>
              </a:rPr>
              <a:t>Courses about AI coding tools</a:t>
            </a:r>
            <a:endParaRPr lang="en-US" sz="2000" dirty="0"/>
          </a:p>
        </p:txBody>
      </p:sp>
      <p:sp>
        <p:nvSpPr>
          <p:cNvPr id="4" name="Text 2"/>
          <p:cNvSpPr/>
          <p:nvPr/>
        </p:nvSpPr>
        <p:spPr>
          <a:xfrm>
            <a:off x="640080" y="2011680"/>
            <a:ext cx="5455768" cy="3840480"/>
          </a:xfrm>
          <a:prstGeom prst="rect">
            <a:avLst/>
          </a:prstGeom>
          <a:noFill/>
          <a:ln/>
        </p:spPr>
        <p:txBody>
          <a:bodyPr wrap="square" lIns="0" tIns="0" rIns="0" bIns="0" rtlCol="0" anchor="t"/>
          <a:lstStyle/>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Stanford — The Modern Software Developer</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Carnegie Mellon — AI Tools for Software Development</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Carnegie Mellon — Effective Coding with AI</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UC San Diego — Generative AI and Programming</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Maryland — Effective Use of AI Coding Assistants</a:t>
            </a:r>
            <a:endParaRPr lang="en-US" sz="1800" dirty="0"/>
          </a:p>
        </p:txBody>
      </p:sp>
      <p:sp>
        <p:nvSpPr>
          <p:cNvPr id="5" name="Text 3"/>
          <p:cNvSpPr/>
          <p:nvPr/>
        </p:nvSpPr>
        <p:spPr>
          <a:xfrm>
            <a:off x="6461608" y="1463040"/>
            <a:ext cx="5272888" cy="457200"/>
          </a:xfrm>
          <a:prstGeom prst="rect">
            <a:avLst/>
          </a:prstGeom>
          <a:noFill/>
          <a:ln/>
        </p:spPr>
        <p:txBody>
          <a:bodyPr wrap="square" lIns="0" tIns="0" rIns="0" bIns="0" rtlCol="0" anchor="ctr"/>
          <a:lstStyle/>
          <a:p>
            <a:pPr indent="0" marL="0">
              <a:buNone/>
            </a:pPr>
            <a:r>
              <a:rPr lang="en-US" sz="2000" b="1" dirty="0">
                <a:solidFill>
                  <a:srgbClr val="1D6F8B"/>
                </a:solidFill>
                <a:latin typeface="Calibri" pitchFamily="34" charset="0"/>
                <a:ea typeface="Calibri" pitchFamily="34" charset="-122"/>
                <a:cs typeface="Calibri" pitchFamily="34" charset="-120"/>
              </a:rPr>
              <a:t>Software engineering / ML courses</a:t>
            </a:r>
            <a:endParaRPr lang="en-US" sz="2000" dirty="0"/>
          </a:p>
        </p:txBody>
      </p:sp>
      <p:sp>
        <p:nvSpPr>
          <p:cNvPr id="6" name="Text 4"/>
          <p:cNvSpPr/>
          <p:nvPr/>
        </p:nvSpPr>
        <p:spPr>
          <a:xfrm>
            <a:off x="6461608" y="2011680"/>
            <a:ext cx="5272888" cy="3840480"/>
          </a:xfrm>
          <a:prstGeom prst="rect">
            <a:avLst/>
          </a:prstGeom>
          <a:noFill/>
          <a:ln/>
        </p:spPr>
        <p:txBody>
          <a:bodyPr wrap="square" lIns="0" tIns="0" rIns="0" bIns="0" rtlCol="0" anchor="t"/>
          <a:lstStyle/>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MIT — Software Design</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Washington — Software Engineering</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NUS Singapore — Software Engineering</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Carnegie Mellon — Principles of Software Construction</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Carnegie Mellon — Machine Learning in Production</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Cornell — Software Engineering</a:t>
            </a:r>
            <a:endParaRPr lang="en-US" sz="1800" dirty="0"/>
          </a:p>
          <a:p>
            <a:pPr marL="279400" indent="-279400">
              <a:spcAft>
                <a:spcPts val="400"/>
              </a:spcAft>
              <a:buSzPct val="100000"/>
              <a:buChar char="•"/>
            </a:pPr>
            <a:r>
              <a:rPr lang="en-US" sz="1800" dirty="0">
                <a:solidFill>
                  <a:srgbClr val="1F2430"/>
                </a:solidFill>
                <a:latin typeface="Calibri" pitchFamily="34" charset="0"/>
                <a:ea typeface="Calibri" pitchFamily="34" charset="-122"/>
                <a:cs typeface="Calibri" pitchFamily="34" charset="-120"/>
              </a:rPr>
              <a:t>Harvard — CS50, final project only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Method: each course becomes a list of practices</a:t>
            </a:r>
            <a:endParaRPr lang="en-US" sz="3600" dirty="0"/>
          </a:p>
        </p:txBody>
      </p:sp>
      <p:sp>
        <p:nvSpPr>
          <p:cNvPr id="3" name="Text 1"/>
          <p:cNvSpPr/>
          <p:nvPr/>
        </p:nvSpPr>
        <p:spPr>
          <a:xfrm>
            <a:off x="640080" y="1554480"/>
            <a:ext cx="10911535" cy="914400"/>
          </a:xfrm>
          <a:prstGeom prst="rect">
            <a:avLst/>
          </a:prstGeom>
          <a:noFill/>
          <a:ln/>
        </p:spPr>
        <p:txBody>
          <a:bodyPr wrap="square" lIns="0" tIns="0" rIns="0" bIns="0" rtlCol="0" anchor="t"/>
          <a:lstStyle/>
          <a:p>
            <a:pPr indent="0" marL="0">
              <a:buNone/>
            </a:pPr>
            <a:r>
              <a:rPr lang="en-US" sz="2800" b="1" dirty="0">
                <a:solidFill>
                  <a:srgbClr val="1F2430"/>
                </a:solidFill>
                <a:latin typeface="Calibri" pitchFamily="34" charset="0"/>
                <a:ea typeface="Calibri" pitchFamily="34" charset="-122"/>
                <a:cs typeface="Calibri" pitchFamily="34" charset="-120"/>
              </a:rPr>
              <a:t>Practice — one concrete decision about project work or assessment</a:t>
            </a:r>
            <a:endParaRPr lang="en-US" sz="2800" dirty="0"/>
          </a:p>
        </p:txBody>
      </p:sp>
      <p:sp>
        <p:nvSpPr>
          <p:cNvPr id="4" name="Text 2"/>
          <p:cNvSpPr/>
          <p:nvPr/>
        </p:nvSpPr>
        <p:spPr>
          <a:xfrm>
            <a:off x="640080" y="2926080"/>
            <a:ext cx="10911535" cy="2926080"/>
          </a:xfrm>
          <a:prstGeom prst="rect">
            <a:avLst/>
          </a:prstGeom>
          <a:noFill/>
          <a:ln/>
        </p:spPr>
        <p:txBody>
          <a:bodyPr wrap="square" lIns="0" tIns="0" rIns="0" bIns="0" rtlCol="0" anchor="t"/>
          <a:lstStyle/>
          <a:p>
            <a:pPr marL="279400" indent="-279400">
              <a:spcAft>
                <a:spcPts val="1200"/>
              </a:spcAft>
              <a:buSzPct val="100000"/>
              <a:buChar char="•"/>
            </a:pPr>
            <a:r>
              <a:rPr lang="en-US" sz="2400" dirty="0">
                <a:solidFill>
                  <a:srgbClr val="1F2430"/>
                </a:solidFill>
                <a:latin typeface="Calibri" pitchFamily="34" charset="0"/>
                <a:ea typeface="Calibri" pitchFamily="34" charset="-122"/>
                <a:cs typeface="Calibri" pitchFamily="34" charset="-120"/>
              </a:rPr>
              <a:t>Stated in course rules or staff reflection</a:t>
            </a:r>
            <a:endParaRPr lang="en-US" sz="2400" dirty="0"/>
          </a:p>
          <a:p>
            <a:pPr marL="279400" indent="-279400">
              <a:spcAft>
                <a:spcPts val="1200"/>
              </a:spcAft>
              <a:buSzPct val="100000"/>
              <a:buChar char="•"/>
            </a:pPr>
            <a:r>
              <a:rPr lang="en-US" sz="2400" dirty="0">
                <a:solidFill>
                  <a:srgbClr val="1F2430"/>
                </a:solidFill>
                <a:latin typeface="Calibri" pitchFamily="34" charset="0"/>
                <a:ea typeface="Calibri" pitchFamily="34" charset="-122"/>
                <a:cs typeface="Calibri" pitchFamily="34" charset="-120"/>
              </a:rPr>
              <a:t>Rule, process, evidence, assessment, criteria, ...</a:t>
            </a:r>
            <a:endParaRPr lang="en-US" sz="2400" dirty="0"/>
          </a:p>
          <a:p>
            <a:pPr marL="279400" indent="-279400">
              <a:spcAft>
                <a:spcPts val="1200"/>
              </a:spcAft>
              <a:buSzPct val="100000"/>
              <a:buChar char="•"/>
            </a:pPr>
            <a:r>
              <a:rPr lang="en-US" sz="2400" dirty="0">
                <a:solidFill>
                  <a:srgbClr val="1F2430"/>
                </a:solidFill>
                <a:latin typeface="Calibri" pitchFamily="34" charset="0"/>
                <a:ea typeface="Calibri" pitchFamily="34" charset="-122"/>
                <a:cs typeface="Calibri" pitchFamily="34" charset="-120"/>
              </a:rPr>
              <a:t>Adoptable by another course on its own</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Example of extracted practice</a:t>
            </a:r>
            <a:endParaRPr lang="en-US" sz="3600" dirty="0"/>
          </a:p>
        </p:txBody>
      </p:sp>
      <p:sp>
        <p:nvSpPr>
          <p:cNvPr id="3" name="Text 1"/>
          <p:cNvSpPr/>
          <p:nvPr/>
        </p:nvSpPr>
        <p:spPr>
          <a:xfrm>
            <a:off x="640080" y="1463040"/>
            <a:ext cx="10911535" cy="548640"/>
          </a:xfrm>
          <a:prstGeom prst="rect">
            <a:avLst/>
          </a:prstGeom>
          <a:noFill/>
          <a:ln/>
        </p:spPr>
        <p:txBody>
          <a:bodyPr wrap="square" lIns="0" tIns="0" rIns="0" bIns="0" rtlCol="0" anchor="ctr"/>
          <a:lstStyle/>
          <a:p>
            <a:pPr indent="0" marL="0">
              <a:buNone/>
            </a:pPr>
            <a:r>
              <a:rPr lang="en-US" sz="2600" b="1" dirty="0">
                <a:solidFill>
                  <a:srgbClr val="1D6F8B"/>
                </a:solidFill>
                <a:latin typeface="Calibri" pitchFamily="34" charset="0"/>
                <a:ea typeface="Calibri" pitchFamily="34" charset="-122"/>
                <a:cs typeface="Calibri" pitchFamily="34" charset="-120"/>
              </a:rPr>
              <a:t>Rationale section in each assignment</a:t>
            </a:r>
            <a:endParaRPr lang="en-US" sz="2600" dirty="0"/>
          </a:p>
        </p:txBody>
      </p:sp>
      <p:sp>
        <p:nvSpPr>
          <p:cNvPr id="4" name="Text 2"/>
          <p:cNvSpPr/>
          <p:nvPr/>
        </p:nvSpPr>
        <p:spPr>
          <a:xfrm>
            <a:off x="640080" y="2148840"/>
            <a:ext cx="10911535" cy="1463040"/>
          </a:xfrm>
          <a:prstGeom prst="rect">
            <a:avLst/>
          </a:prstGeom>
          <a:noFill/>
          <a:ln/>
        </p:spPr>
        <p:txBody>
          <a:bodyPr wrap="square" lIns="0" tIns="0" rIns="0" bIns="0" rtlCol="0" anchor="t"/>
          <a:lstStyle/>
          <a:p>
            <a:pPr indent="0" marL="0">
              <a:buNone/>
            </a:pPr>
            <a:r>
              <a:rPr lang="en-US" sz="2000" dirty="0">
                <a:solidFill>
                  <a:srgbClr val="1F2430"/>
                </a:solidFill>
                <a:latin typeface="Calibri" pitchFamily="34" charset="0"/>
                <a:ea typeface="Calibri" pitchFamily="34" charset="-122"/>
                <a:cs typeface="Calibri" pitchFamily="34" charset="-120"/>
              </a:rPr>
              <a:t>For each assignments we explain why the staff require a particular way of working, before stating the requirements. ...</a:t>
            </a:r>
            <a:endParaRPr lang="en-US" sz="2000" dirty="0"/>
          </a:p>
        </p:txBody>
      </p:sp>
      <p:sp>
        <p:nvSpPr>
          <p:cNvPr id="5" name="Shape 3"/>
          <p:cNvSpPr/>
          <p:nvPr/>
        </p:nvSpPr>
        <p:spPr>
          <a:xfrm>
            <a:off x="640080" y="3840480"/>
            <a:ext cx="10911535" cy="1737360"/>
          </a:xfrm>
          <a:prstGeom prst="rect">
            <a:avLst/>
          </a:prstGeom>
          <a:solidFill>
            <a:srgbClr val="E8F1F5"/>
          </a:solidFill>
          <a:ln w="12700">
            <a:solidFill>
              <a:srgbClr val="E8F1F5"/>
            </a:solidFill>
            <a:prstDash val="solid"/>
          </a:ln>
        </p:spPr>
      </p:sp>
      <p:sp>
        <p:nvSpPr>
          <p:cNvPr id="6" name="Text 4"/>
          <p:cNvSpPr/>
          <p:nvPr/>
        </p:nvSpPr>
        <p:spPr>
          <a:xfrm>
            <a:off x="1005840" y="4023360"/>
            <a:ext cx="10180015" cy="1371600"/>
          </a:xfrm>
          <a:prstGeom prst="rect">
            <a:avLst/>
          </a:prstGeom>
          <a:noFill/>
          <a:ln/>
        </p:spPr>
        <p:txBody>
          <a:bodyPr wrap="square" lIns="0" tIns="0" rIns="0" bIns="0" rtlCol="0" anchor="t"/>
          <a:lstStyle/>
          <a:p>
            <a:pPr indent="0" marL="0">
              <a:spcAft>
                <a:spcPts val="800"/>
              </a:spcAft>
              <a:buNone/>
            </a:pPr>
            <a:r>
              <a:rPr lang="en-US" sz="2000" i="1" dirty="0">
                <a:solidFill>
                  <a:srgbClr val="1F2430"/>
                </a:solidFill>
                <a:latin typeface="Calibri" pitchFamily="34" charset="0"/>
                <a:ea typeface="Calibri" pitchFamily="34" charset="-122"/>
                <a:cs typeface="Calibri" pitchFamily="34" charset="-120"/>
              </a:rPr>
              <a:t>“Before explaining the very particular way in which we expect you to work on this assignment, we’d like to explain our rationale: what we’re trying to accomplish and why we believe this is a good approach.”</a:t>
            </a:r>
            <a:endParaRPr lang="en-US" sz="2000" dirty="0"/>
          </a:p>
          <a:p>
            <a:pPr indent="0" marL="0">
              <a:buNone/>
            </a:pPr>
            <a:r>
              <a:rPr lang="en-US" sz="1600" dirty="0">
                <a:solidFill>
                  <a:srgbClr val="6B7280"/>
                </a:solidFill>
                <a:latin typeface="Calibri" pitchFamily="34" charset="0"/>
                <a:ea typeface="Calibri" pitchFamily="34" charset="-122"/>
                <a:cs typeface="Calibri" pitchFamily="34" charset="-120"/>
              </a:rPr>
              <a:t>MIT 6.1040 Software Design, Fall 2025, Assignment 4a</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What was collected</a:t>
            </a:r>
            <a:endParaRPr lang="en-US" sz="3600" dirty="0"/>
          </a:p>
        </p:txBody>
      </p:sp>
      <p:sp>
        <p:nvSpPr>
          <p:cNvPr id="3" name="Text 1"/>
          <p:cNvSpPr/>
          <p:nvPr/>
        </p:nvSpPr>
        <p:spPr>
          <a:xfrm>
            <a:off x="640080" y="1737360"/>
            <a:ext cx="2727884" cy="1097280"/>
          </a:xfrm>
          <a:prstGeom prst="rect">
            <a:avLst/>
          </a:prstGeom>
          <a:noFill/>
          <a:ln/>
        </p:spPr>
        <p:txBody>
          <a:bodyPr wrap="square" lIns="0" tIns="0" rIns="0" bIns="0" rtlCol="0" anchor="b"/>
          <a:lstStyle/>
          <a:p>
            <a:pPr indent="0" marL="0">
              <a:buNone/>
            </a:pPr>
            <a:r>
              <a:rPr lang="en-US" sz="6600" b="1" dirty="0">
                <a:solidFill>
                  <a:srgbClr val="1D6F8B"/>
                </a:solidFill>
                <a:latin typeface="Calibri" pitchFamily="34" charset="0"/>
                <a:ea typeface="Calibri" pitchFamily="34" charset="-122"/>
                <a:cs typeface="Calibri" pitchFamily="34" charset="-120"/>
              </a:rPr>
              <a:t>318</a:t>
            </a:r>
            <a:endParaRPr lang="en-US" sz="6600" dirty="0"/>
          </a:p>
        </p:txBody>
      </p:sp>
      <p:sp>
        <p:nvSpPr>
          <p:cNvPr id="4" name="Text 2"/>
          <p:cNvSpPr/>
          <p:nvPr/>
        </p:nvSpPr>
        <p:spPr>
          <a:xfrm>
            <a:off x="640080" y="2880360"/>
            <a:ext cx="2407844"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web-pages downloaded</a:t>
            </a:r>
            <a:endParaRPr lang="en-US" sz="1800" dirty="0"/>
          </a:p>
        </p:txBody>
      </p:sp>
      <p:sp>
        <p:nvSpPr>
          <p:cNvPr id="5" name="Text 3"/>
          <p:cNvSpPr/>
          <p:nvPr/>
        </p:nvSpPr>
        <p:spPr>
          <a:xfrm>
            <a:off x="3367964" y="1737360"/>
            <a:ext cx="2727884" cy="1097280"/>
          </a:xfrm>
          <a:prstGeom prst="rect">
            <a:avLst/>
          </a:prstGeom>
          <a:noFill/>
          <a:ln/>
        </p:spPr>
        <p:txBody>
          <a:bodyPr wrap="square" lIns="0" tIns="0" rIns="0" bIns="0" rtlCol="0" anchor="b"/>
          <a:lstStyle/>
          <a:p>
            <a:pPr indent="0" marL="0">
              <a:buNone/>
            </a:pPr>
            <a:r>
              <a:rPr lang="en-US" sz="6600" b="1" dirty="0">
                <a:solidFill>
                  <a:srgbClr val="1D6F8B"/>
                </a:solidFill>
                <a:latin typeface="Calibri" pitchFamily="34" charset="0"/>
                <a:ea typeface="Calibri" pitchFamily="34" charset="-122"/>
                <a:cs typeface="Calibri" pitchFamily="34" charset="-120"/>
              </a:rPr>
              <a:t>280</a:t>
            </a:r>
            <a:endParaRPr lang="en-US" sz="6600" dirty="0"/>
          </a:p>
        </p:txBody>
      </p:sp>
      <p:sp>
        <p:nvSpPr>
          <p:cNvPr id="6" name="Text 4"/>
          <p:cNvSpPr/>
          <p:nvPr/>
        </p:nvSpPr>
        <p:spPr>
          <a:xfrm>
            <a:off x="3367964" y="2880360"/>
            <a:ext cx="2407844"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practices extracted,</a:t>
            </a:r>
            <a:endParaRPr lang="en-US" sz="1800" dirty="0"/>
          </a:p>
          <a:p>
            <a:pPr indent="0" marL="0">
              <a:buNone/>
            </a:pPr>
            <a:r>
              <a:rPr lang="en-US" sz="1800" dirty="0">
                <a:solidFill>
                  <a:srgbClr val="1F2430"/>
                </a:solidFill>
                <a:latin typeface="Calibri" pitchFamily="34" charset="0"/>
                <a:ea typeface="Calibri" pitchFamily="34" charset="-122"/>
                <a:cs typeface="Calibri" pitchFamily="34" charset="-120"/>
              </a:rPr>
              <a:t>11 to 39 per course</a:t>
            </a:r>
            <a:endParaRPr lang="en-US" sz="1800" dirty="0"/>
          </a:p>
        </p:txBody>
      </p:sp>
      <p:sp>
        <p:nvSpPr>
          <p:cNvPr id="7" name="Text 5"/>
          <p:cNvSpPr/>
          <p:nvPr/>
        </p:nvSpPr>
        <p:spPr>
          <a:xfrm>
            <a:off x="6095848" y="1737360"/>
            <a:ext cx="2727884" cy="1097280"/>
          </a:xfrm>
          <a:prstGeom prst="rect">
            <a:avLst/>
          </a:prstGeom>
          <a:noFill/>
          <a:ln/>
        </p:spPr>
        <p:txBody>
          <a:bodyPr wrap="square" lIns="0" tIns="0" rIns="0" bIns="0" rtlCol="0" anchor="b"/>
          <a:lstStyle/>
          <a:p>
            <a:pPr indent="0" marL="0">
              <a:buNone/>
            </a:pPr>
            <a:r>
              <a:rPr lang="en-US" sz="6600" b="1" dirty="0">
                <a:solidFill>
                  <a:srgbClr val="1D6F8B"/>
                </a:solidFill>
                <a:latin typeface="Calibri" pitchFamily="34" charset="0"/>
                <a:ea typeface="Calibri" pitchFamily="34" charset="-122"/>
                <a:cs typeface="Calibri" pitchFamily="34" charset="-120"/>
              </a:rPr>
              <a:t>8/12</a:t>
            </a:r>
            <a:endParaRPr lang="en-US" sz="6600" dirty="0"/>
          </a:p>
        </p:txBody>
      </p:sp>
      <p:sp>
        <p:nvSpPr>
          <p:cNvPr id="8" name="Text 6"/>
          <p:cNvSpPr/>
          <p:nvPr/>
        </p:nvSpPr>
        <p:spPr>
          <a:xfrm>
            <a:off x="6095848" y="2880360"/>
            <a:ext cx="2407844"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courses contains staff reflection</a:t>
            </a:r>
            <a:endParaRPr lang="en-US" sz="1800" dirty="0"/>
          </a:p>
        </p:txBody>
      </p:sp>
      <p:sp>
        <p:nvSpPr>
          <p:cNvPr id="9" name="Text 7"/>
          <p:cNvSpPr/>
          <p:nvPr/>
        </p:nvSpPr>
        <p:spPr>
          <a:xfrm>
            <a:off x="8823731" y="1737360"/>
            <a:ext cx="2727884" cy="1097280"/>
          </a:xfrm>
          <a:prstGeom prst="rect">
            <a:avLst/>
          </a:prstGeom>
          <a:noFill/>
          <a:ln/>
        </p:spPr>
        <p:txBody>
          <a:bodyPr wrap="square" lIns="0" tIns="0" rIns="0" bIns="0" rtlCol="0" anchor="b"/>
          <a:lstStyle/>
          <a:p>
            <a:pPr indent="0" marL="0">
              <a:buNone/>
            </a:pPr>
            <a:r>
              <a:rPr lang="en-US" sz="6600" b="1" dirty="0">
                <a:solidFill>
                  <a:srgbClr val="1D6F8B"/>
                </a:solidFill>
                <a:latin typeface="Calibri" pitchFamily="34" charset="0"/>
                <a:ea typeface="Calibri" pitchFamily="34" charset="-122"/>
                <a:cs typeface="Calibri" pitchFamily="34" charset="-120"/>
              </a:rPr>
              <a:t>40</a:t>
            </a:r>
            <a:endParaRPr lang="en-US" sz="6600" dirty="0"/>
          </a:p>
        </p:txBody>
      </p:sp>
      <p:sp>
        <p:nvSpPr>
          <p:cNvPr id="10" name="Text 8"/>
          <p:cNvSpPr/>
          <p:nvPr/>
        </p:nvSpPr>
        <p:spPr>
          <a:xfrm>
            <a:off x="8823731" y="2880360"/>
            <a:ext cx="2407844"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instructor observations recorded from those reflections</a:t>
            </a:r>
            <a:endParaRPr lang="en-US" sz="1800" dirty="0"/>
          </a:p>
        </p:txBody>
      </p:sp>
      <p:sp>
        <p:nvSpPr>
          <p:cNvPr id="11" name="Text 9"/>
          <p:cNvSpPr/>
          <p:nvPr/>
        </p:nvSpPr>
        <p:spPr>
          <a:xfrm>
            <a:off x="640080" y="4206240"/>
            <a:ext cx="10911535" cy="1280160"/>
          </a:xfrm>
          <a:prstGeom prst="rect">
            <a:avLst/>
          </a:prstGeom>
          <a:noFill/>
          <a:ln/>
        </p:spPr>
        <p:txBody>
          <a:bodyPr wrap="square" lIns="0" tIns="0" rIns="0" bIns="0" rtlCol="0" anchor="t"/>
          <a:lstStyle/>
          <a:p>
            <a:pPr marL="279400" indent="-279400">
              <a:spcAft>
                <a:spcPts val="1000"/>
              </a:spcAft>
              <a:buSzPct val="100000"/>
              <a:buChar char="•"/>
            </a:pPr>
            <a:r>
              <a:rPr lang="en-US" sz="2000" dirty="0">
                <a:solidFill>
                  <a:srgbClr val="1F2430"/>
                </a:solidFill>
                <a:latin typeface="Calibri" pitchFamily="34" charset="0"/>
                <a:ea typeface="Calibri" pitchFamily="34" charset="-122"/>
                <a:cs typeface="Calibri" pitchFamily="34" charset="-120"/>
              </a:rPr>
              <a:t>Syllabi and AI policies, assignment pages and rubrics, staff-built tools, staff essays and interviews.</a:t>
            </a:r>
            <a:endParaRPr lang="en-US" sz="2000" dirty="0"/>
          </a:p>
        </p:txBody>
      </p:sp>
      <p:sp>
        <p:nvSpPr>
          <p:cNvPr id="12" name="Text 10"/>
          <p:cNvSpPr/>
          <p:nvPr/>
        </p:nvSpPr>
        <p:spPr>
          <a:xfrm>
            <a:off x="640080" y="5532120"/>
            <a:ext cx="10911535" cy="365760"/>
          </a:xfrm>
          <a:prstGeom prst="rect">
            <a:avLst/>
          </a:prstGeom>
          <a:noFill/>
          <a:ln/>
        </p:spPr>
        <p:txBody>
          <a:bodyPr wrap="square" lIns="0" tIns="0" rIns="0" bIns="0" rtlCol="0" anchor="b"/>
          <a:lstStyle/>
          <a:p>
            <a:pPr indent="0" marL="0">
              <a:buNone/>
            </a:pPr>
            <a:r>
              <a:rPr lang="en-US" sz="1800" dirty="0">
                <a:solidFill>
                  <a:srgbClr val="6B7280"/>
                </a:solidFill>
                <a:latin typeface="Calibri" pitchFamily="34" charset="0"/>
                <a:ea typeface="Calibri" pitchFamily="34" charset="-122"/>
                <a:cs typeface="Calibri" pitchFamily="34" charset="-120"/>
              </a:rPr>
              <a:t>All is available here:</a:t>
            </a:r>
            <a:endParaRPr lang="en-US" sz="1800" dirty="0"/>
          </a:p>
        </p:txBody>
      </p:sp>
      <p:sp>
        <p:nvSpPr>
          <p:cNvPr id="13" name="Text 11">
            <a:hlinkClick r:id="rId1" tooltip=""/>
          </p:cNvPr>
          <p:cNvSpPr/>
          <p:nvPr/>
        </p:nvSpPr>
        <p:spPr>
          <a:xfrm>
            <a:off x="640080" y="5943600"/>
            <a:ext cx="10911535" cy="457200"/>
          </a:xfrm>
          <a:prstGeom prst="rect">
            <a:avLst/>
          </a:prstGeom>
          <a:noFill/>
          <a:ln/>
        </p:spPr>
        <p:txBody>
          <a:bodyPr wrap="square" lIns="0" tIns="0" rIns="0" bIns="0" rtlCol="0" anchor="t"/>
          <a:lstStyle/>
          <a:p>
            <a:pPr indent="0" marL="0">
              <a:buNone/>
            </a:pPr>
            <a:r>
              <a:rPr lang="en-US" sz="2400" b="1" u="sng" dirty="0">
                <a:solidFill>
                  <a:srgbClr val="1D6F8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github.com/xoposhiy/project-courses-research</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Five ideas that guide the analysis</a:t>
            </a:r>
            <a:endParaRPr lang="en-US" sz="3600" dirty="0"/>
          </a:p>
        </p:txBody>
      </p:sp>
      <p:sp>
        <p:nvSpPr>
          <p:cNvPr id="3" name="Shape 1"/>
          <p:cNvSpPr/>
          <p:nvPr/>
        </p:nvSpPr>
        <p:spPr>
          <a:xfrm>
            <a:off x="640080" y="1481328"/>
            <a:ext cx="548640" cy="548640"/>
          </a:xfrm>
          <a:prstGeom prst="ellipse">
            <a:avLst/>
          </a:prstGeom>
          <a:solidFill>
            <a:srgbClr val="1D6F8B"/>
          </a:solidFill>
          <a:ln w="12700">
            <a:solidFill>
              <a:srgbClr val="1D6F8B"/>
            </a:solidFill>
            <a:prstDash val="solid"/>
          </a:ln>
        </p:spPr>
      </p:sp>
      <p:sp>
        <p:nvSpPr>
          <p:cNvPr id="4" name="Text 2"/>
          <p:cNvSpPr/>
          <p:nvPr/>
        </p:nvSpPr>
        <p:spPr>
          <a:xfrm>
            <a:off x="640080" y="148132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5" name="Text 3"/>
          <p:cNvSpPr/>
          <p:nvPr/>
        </p:nvSpPr>
        <p:spPr>
          <a:xfrm>
            <a:off x="1417320" y="1463040"/>
            <a:ext cx="3657600" cy="594360"/>
          </a:xfrm>
          <a:prstGeom prst="rect">
            <a:avLst/>
          </a:prstGeom>
          <a:noFill/>
          <a:ln/>
        </p:spPr>
        <p:txBody>
          <a:bodyPr wrap="square" lIns="0" tIns="0" rIns="0" bIns="0" rtlCol="0" anchor="ctr"/>
          <a:lstStyle/>
          <a:p>
            <a:pPr indent="0" marL="0">
              <a:buNone/>
            </a:pPr>
            <a:r>
              <a:rPr lang="en-US" sz="2200" b="1" dirty="0">
                <a:solidFill>
                  <a:srgbClr val="1F2430"/>
                </a:solidFill>
                <a:latin typeface="Calibri" pitchFamily="34" charset="0"/>
                <a:ea typeface="Calibri" pitchFamily="34" charset="-122"/>
                <a:cs typeface="Calibri" pitchFamily="34" charset="-120"/>
              </a:rPr>
              <a:t>Agency</a:t>
            </a:r>
            <a:endParaRPr lang="en-US" sz="2200" dirty="0"/>
          </a:p>
        </p:txBody>
      </p:sp>
      <p:sp>
        <p:nvSpPr>
          <p:cNvPr id="6" name="Text 4"/>
          <p:cNvSpPr/>
          <p:nvPr/>
        </p:nvSpPr>
        <p:spPr>
          <a:xfrm>
            <a:off x="4572000" y="1463040"/>
            <a:ext cx="6430975"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The student stops being responsible and becomes an observer. AI hides this problem behind good-looking results, creating illusion of competense</a:t>
            </a:r>
            <a:endParaRPr lang="en-US" sz="1800" dirty="0"/>
          </a:p>
        </p:txBody>
      </p:sp>
      <p:sp>
        <p:nvSpPr>
          <p:cNvPr id="7" name="Shape 5"/>
          <p:cNvSpPr/>
          <p:nvPr/>
        </p:nvSpPr>
        <p:spPr>
          <a:xfrm>
            <a:off x="640080" y="2395728"/>
            <a:ext cx="548640" cy="548640"/>
          </a:xfrm>
          <a:prstGeom prst="ellipse">
            <a:avLst/>
          </a:prstGeom>
          <a:solidFill>
            <a:srgbClr val="1D6F8B"/>
          </a:solidFill>
          <a:ln w="12700">
            <a:solidFill>
              <a:srgbClr val="1D6F8B"/>
            </a:solidFill>
            <a:prstDash val="solid"/>
          </a:ln>
        </p:spPr>
      </p:sp>
      <p:sp>
        <p:nvSpPr>
          <p:cNvPr id="8" name="Text 6"/>
          <p:cNvSpPr/>
          <p:nvPr/>
        </p:nvSpPr>
        <p:spPr>
          <a:xfrm>
            <a:off x="640080" y="239572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Text 7"/>
          <p:cNvSpPr/>
          <p:nvPr/>
        </p:nvSpPr>
        <p:spPr>
          <a:xfrm>
            <a:off x="1417320" y="2377440"/>
            <a:ext cx="3657600" cy="594360"/>
          </a:xfrm>
          <a:prstGeom prst="rect">
            <a:avLst/>
          </a:prstGeom>
          <a:noFill/>
          <a:ln/>
        </p:spPr>
        <p:txBody>
          <a:bodyPr wrap="square" lIns="0" tIns="0" rIns="0" bIns="0" rtlCol="0" anchor="ctr"/>
          <a:lstStyle/>
          <a:p>
            <a:pPr indent="0" marL="0">
              <a:buNone/>
            </a:pPr>
            <a:r>
              <a:rPr lang="en-US" sz="2200" b="1" dirty="0">
                <a:solidFill>
                  <a:srgbClr val="1F2430"/>
                </a:solidFill>
                <a:latin typeface="Calibri" pitchFamily="34" charset="0"/>
                <a:ea typeface="Calibri" pitchFamily="34" charset="-122"/>
                <a:cs typeface="Calibri" pitchFamily="34" charset="-120"/>
              </a:rPr>
              <a:t>Context</a:t>
            </a:r>
            <a:endParaRPr lang="en-US" sz="2200" dirty="0"/>
          </a:p>
        </p:txBody>
      </p:sp>
      <p:sp>
        <p:nvSpPr>
          <p:cNvPr id="10" name="Text 8"/>
          <p:cNvSpPr/>
          <p:nvPr/>
        </p:nvSpPr>
        <p:spPr>
          <a:xfrm>
            <a:off x="4572000" y="2377440"/>
            <a:ext cx="6430975"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The key AI skill is controlling the context. AI pushes toward more specs and documents.</a:t>
            </a:r>
            <a:endParaRPr lang="en-US" sz="1800" dirty="0"/>
          </a:p>
        </p:txBody>
      </p:sp>
      <p:sp>
        <p:nvSpPr>
          <p:cNvPr id="11" name="Shape 9"/>
          <p:cNvSpPr/>
          <p:nvPr/>
        </p:nvSpPr>
        <p:spPr>
          <a:xfrm>
            <a:off x="640080" y="3310128"/>
            <a:ext cx="548640" cy="548640"/>
          </a:xfrm>
          <a:prstGeom prst="ellipse">
            <a:avLst/>
          </a:prstGeom>
          <a:solidFill>
            <a:srgbClr val="1D6F8B"/>
          </a:solidFill>
          <a:ln w="12700">
            <a:solidFill>
              <a:srgbClr val="1D6F8B"/>
            </a:solidFill>
            <a:prstDash val="solid"/>
          </a:ln>
        </p:spPr>
      </p:sp>
      <p:sp>
        <p:nvSpPr>
          <p:cNvPr id="12" name="Text 10"/>
          <p:cNvSpPr/>
          <p:nvPr/>
        </p:nvSpPr>
        <p:spPr>
          <a:xfrm>
            <a:off x="640080" y="331012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p:nvPr/>
        </p:nvSpPr>
        <p:spPr>
          <a:xfrm>
            <a:off x="1417320" y="3291840"/>
            <a:ext cx="3657600" cy="594360"/>
          </a:xfrm>
          <a:prstGeom prst="rect">
            <a:avLst/>
          </a:prstGeom>
          <a:noFill/>
          <a:ln/>
        </p:spPr>
        <p:txBody>
          <a:bodyPr wrap="square" lIns="0" tIns="0" rIns="0" bIns="0" rtlCol="0" anchor="ctr"/>
          <a:lstStyle/>
          <a:p>
            <a:pPr indent="0" marL="0">
              <a:buNone/>
            </a:pPr>
            <a:r>
              <a:rPr lang="en-US" sz="2200" b="1" dirty="0">
                <a:solidFill>
                  <a:srgbClr val="1F2430"/>
                </a:solidFill>
                <a:latin typeface="Calibri" pitchFamily="34" charset="0"/>
                <a:ea typeface="Calibri" pitchFamily="34" charset="-122"/>
                <a:cs typeface="Calibri" pitchFamily="34" charset="-120"/>
              </a:rPr>
              <a:t>LLM strengths to use</a:t>
            </a:r>
            <a:endParaRPr lang="en-US" sz="2200" dirty="0"/>
          </a:p>
        </p:txBody>
      </p:sp>
      <p:sp>
        <p:nvSpPr>
          <p:cNvPr id="14" name="Text 12"/>
          <p:cNvSpPr/>
          <p:nvPr/>
        </p:nvSpPr>
        <p:spPr>
          <a:xfrm>
            <a:off x="4572000" y="3291840"/>
            <a:ext cx="6430975"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Expanding the space of ideas, finding problems, RL-friendly tasks: coding, math, tools.</a:t>
            </a:r>
            <a:endParaRPr lang="en-US" sz="1800" dirty="0"/>
          </a:p>
        </p:txBody>
      </p:sp>
      <p:sp>
        <p:nvSpPr>
          <p:cNvPr id="15" name="Shape 13"/>
          <p:cNvSpPr/>
          <p:nvPr/>
        </p:nvSpPr>
        <p:spPr>
          <a:xfrm>
            <a:off x="640080" y="4224528"/>
            <a:ext cx="548640" cy="548640"/>
          </a:xfrm>
          <a:prstGeom prst="ellipse">
            <a:avLst/>
          </a:prstGeom>
          <a:solidFill>
            <a:srgbClr val="1D6F8B"/>
          </a:solidFill>
          <a:ln w="12700">
            <a:solidFill>
              <a:srgbClr val="1D6F8B"/>
            </a:solidFill>
            <a:prstDash val="solid"/>
          </a:ln>
        </p:spPr>
      </p:sp>
      <p:sp>
        <p:nvSpPr>
          <p:cNvPr id="16" name="Text 14"/>
          <p:cNvSpPr/>
          <p:nvPr/>
        </p:nvSpPr>
        <p:spPr>
          <a:xfrm>
            <a:off x="640080" y="422452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7" name="Text 15"/>
          <p:cNvSpPr/>
          <p:nvPr/>
        </p:nvSpPr>
        <p:spPr>
          <a:xfrm>
            <a:off x="1417320" y="4206240"/>
            <a:ext cx="3657600" cy="594360"/>
          </a:xfrm>
          <a:prstGeom prst="rect">
            <a:avLst/>
          </a:prstGeom>
          <a:noFill/>
          <a:ln/>
        </p:spPr>
        <p:txBody>
          <a:bodyPr wrap="square" lIns="0" tIns="0" rIns="0" bIns="0" rtlCol="0" anchor="ctr"/>
          <a:lstStyle/>
          <a:p>
            <a:pPr indent="0" marL="0">
              <a:buNone/>
            </a:pPr>
            <a:r>
              <a:rPr lang="en-US" sz="2200" b="1" dirty="0">
                <a:solidFill>
                  <a:srgbClr val="1F2430"/>
                </a:solidFill>
                <a:latin typeface="Calibri" pitchFamily="34" charset="0"/>
                <a:ea typeface="Calibri" pitchFamily="34" charset="-122"/>
                <a:cs typeface="Calibri" pitchFamily="34" charset="-120"/>
              </a:rPr>
              <a:t>LLM weaknesses to control</a:t>
            </a:r>
            <a:endParaRPr lang="en-US" sz="2200" dirty="0"/>
          </a:p>
        </p:txBody>
      </p:sp>
      <p:sp>
        <p:nvSpPr>
          <p:cNvPr id="18" name="Text 16"/>
          <p:cNvSpPr/>
          <p:nvPr/>
        </p:nvSpPr>
        <p:spPr>
          <a:xfrm>
            <a:off x="4572000" y="4206240"/>
            <a:ext cx="6430975"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Fuzzy correctness, priorities, what is essential, long horizon of effect: architecture, choice of the project idea, etc.</a:t>
            </a:r>
            <a:endParaRPr lang="en-US" sz="1800" dirty="0"/>
          </a:p>
        </p:txBody>
      </p:sp>
      <p:sp>
        <p:nvSpPr>
          <p:cNvPr id="19" name="Shape 17"/>
          <p:cNvSpPr/>
          <p:nvPr/>
        </p:nvSpPr>
        <p:spPr>
          <a:xfrm>
            <a:off x="640080" y="5138928"/>
            <a:ext cx="548640" cy="548640"/>
          </a:xfrm>
          <a:prstGeom prst="ellipse">
            <a:avLst/>
          </a:prstGeom>
          <a:solidFill>
            <a:srgbClr val="1D6F8B"/>
          </a:solidFill>
          <a:ln w="12700">
            <a:solidFill>
              <a:srgbClr val="1D6F8B"/>
            </a:solidFill>
            <a:prstDash val="solid"/>
          </a:ln>
        </p:spPr>
      </p:sp>
      <p:sp>
        <p:nvSpPr>
          <p:cNvPr id="20" name="Text 18"/>
          <p:cNvSpPr/>
          <p:nvPr/>
        </p:nvSpPr>
        <p:spPr>
          <a:xfrm>
            <a:off x="640080" y="513892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1" name="Text 19"/>
          <p:cNvSpPr/>
          <p:nvPr/>
        </p:nvSpPr>
        <p:spPr>
          <a:xfrm>
            <a:off x="1417320" y="5120640"/>
            <a:ext cx="3657600" cy="594360"/>
          </a:xfrm>
          <a:prstGeom prst="rect">
            <a:avLst/>
          </a:prstGeom>
          <a:noFill/>
          <a:ln/>
        </p:spPr>
        <p:txBody>
          <a:bodyPr wrap="square" lIns="0" tIns="0" rIns="0" bIns="0" rtlCol="0" anchor="ctr"/>
          <a:lstStyle/>
          <a:p>
            <a:pPr indent="0" marL="0">
              <a:buNone/>
            </a:pPr>
            <a:r>
              <a:rPr lang="en-US" sz="2200" b="1" dirty="0">
                <a:solidFill>
                  <a:srgbClr val="1F2430"/>
                </a:solidFill>
                <a:latin typeface="Calibri" pitchFamily="34" charset="0"/>
                <a:ea typeface="Calibri" pitchFamily="34" charset="-122"/>
                <a:cs typeface="Calibri" pitchFamily="34" charset="-120"/>
              </a:rPr>
              <a:t>Discovery</a:t>
            </a:r>
            <a:endParaRPr lang="en-US" sz="2200" dirty="0"/>
          </a:p>
        </p:txBody>
      </p:sp>
      <p:sp>
        <p:nvSpPr>
          <p:cNvPr id="22" name="Text 20"/>
          <p:cNvSpPr/>
          <p:nvPr/>
        </p:nvSpPr>
        <p:spPr>
          <a:xfrm>
            <a:off x="4572000" y="5120640"/>
            <a:ext cx="6430975" cy="82296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Nobody knows yet how to use this well. Students must experiment and form their own opinions.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Sort, group, generalize</a:t>
            </a:r>
            <a:endParaRPr lang="en-US" sz="3600" dirty="0"/>
          </a:p>
        </p:txBody>
      </p:sp>
      <p:sp>
        <p:nvSpPr>
          <p:cNvPr id="3" name="Shape 1"/>
          <p:cNvSpPr/>
          <p:nvPr/>
        </p:nvSpPr>
        <p:spPr>
          <a:xfrm>
            <a:off x="640080" y="1463040"/>
            <a:ext cx="10911535" cy="960120"/>
          </a:xfrm>
          <a:prstGeom prst="rect">
            <a:avLst/>
          </a:prstGeom>
          <a:solidFill>
            <a:srgbClr val="E8F1F5"/>
          </a:solidFill>
          <a:ln w="12700">
            <a:solidFill>
              <a:srgbClr val="E8F1F5"/>
            </a:solidFill>
            <a:prstDash val="solid"/>
          </a:ln>
        </p:spPr>
      </p:sp>
      <p:sp>
        <p:nvSpPr>
          <p:cNvPr id="4" name="Text 2"/>
          <p:cNvSpPr/>
          <p:nvPr/>
        </p:nvSpPr>
        <p:spPr>
          <a:xfrm>
            <a:off x="914400" y="1463040"/>
            <a:ext cx="1554480" cy="960120"/>
          </a:xfrm>
          <a:prstGeom prst="rect">
            <a:avLst/>
          </a:prstGeom>
          <a:noFill/>
          <a:ln/>
        </p:spPr>
        <p:txBody>
          <a:bodyPr wrap="square" lIns="0" tIns="0" rIns="0" bIns="0" rtlCol="0" anchor="ctr"/>
          <a:lstStyle/>
          <a:p>
            <a:pPr indent="0" marL="0">
              <a:buNone/>
            </a:pPr>
            <a:r>
              <a:rPr lang="en-US" sz="4000" b="1" dirty="0">
                <a:solidFill>
                  <a:srgbClr val="1D6F8B"/>
                </a:solidFill>
                <a:latin typeface="Calibri" pitchFamily="34" charset="0"/>
                <a:ea typeface="Calibri" pitchFamily="34" charset="-122"/>
                <a:cs typeface="Calibri" pitchFamily="34" charset="-120"/>
              </a:rPr>
              <a:t>280</a:t>
            </a:r>
            <a:endParaRPr lang="en-US" sz="4000" dirty="0"/>
          </a:p>
        </p:txBody>
      </p:sp>
      <p:sp>
        <p:nvSpPr>
          <p:cNvPr id="5" name="Text 3"/>
          <p:cNvSpPr/>
          <p:nvPr/>
        </p:nvSpPr>
        <p:spPr>
          <a:xfrm>
            <a:off x="2560320" y="1463040"/>
            <a:ext cx="8716975" cy="960120"/>
          </a:xfrm>
          <a:prstGeom prst="rect">
            <a:avLst/>
          </a:prstGeom>
          <a:noFill/>
          <a:ln/>
        </p:spPr>
        <p:txBody>
          <a:bodyPr wrap="square" lIns="0" tIns="0" rIns="0" bIns="0" rtlCol="0" anchor="ctr"/>
          <a:lstStyle/>
          <a:p>
            <a:pPr indent="0" marL="0">
              <a:buNone/>
            </a:pPr>
            <a:r>
              <a:rPr lang="en-US" sz="1800" dirty="0">
                <a:solidFill>
                  <a:srgbClr val="1F2430"/>
                </a:solidFill>
                <a:latin typeface="Calibri" pitchFamily="34" charset="0"/>
                <a:ea typeface="Calibri" pitchFamily="34" charset="-122"/>
                <a:cs typeface="Calibri" pitchFamily="34" charset="-120"/>
              </a:rPr>
              <a:t>practices extracted from 12 courses</a:t>
            </a:r>
            <a:endParaRPr lang="en-US" sz="1800" dirty="0"/>
          </a:p>
        </p:txBody>
      </p:sp>
      <p:sp>
        <p:nvSpPr>
          <p:cNvPr id="6" name="Shape 4"/>
          <p:cNvSpPr/>
          <p:nvPr/>
        </p:nvSpPr>
        <p:spPr>
          <a:xfrm>
            <a:off x="1731234" y="2560320"/>
            <a:ext cx="8729228" cy="960120"/>
          </a:xfrm>
          <a:prstGeom prst="rect">
            <a:avLst/>
          </a:prstGeom>
          <a:solidFill>
            <a:srgbClr val="CFE1E9"/>
          </a:solidFill>
          <a:ln w="12700">
            <a:solidFill>
              <a:srgbClr val="CFE1E9"/>
            </a:solidFill>
            <a:prstDash val="solid"/>
          </a:ln>
        </p:spPr>
      </p:sp>
      <p:sp>
        <p:nvSpPr>
          <p:cNvPr id="7" name="Text 5"/>
          <p:cNvSpPr/>
          <p:nvPr/>
        </p:nvSpPr>
        <p:spPr>
          <a:xfrm>
            <a:off x="2005554" y="2560320"/>
            <a:ext cx="1554480" cy="960120"/>
          </a:xfrm>
          <a:prstGeom prst="rect">
            <a:avLst/>
          </a:prstGeom>
          <a:noFill/>
          <a:ln/>
        </p:spPr>
        <p:txBody>
          <a:bodyPr wrap="square" lIns="0" tIns="0" rIns="0" bIns="0" rtlCol="0" anchor="ctr"/>
          <a:lstStyle/>
          <a:p>
            <a:pPr indent="0" marL="0">
              <a:buNone/>
            </a:pPr>
            <a:r>
              <a:rPr lang="en-US" sz="4000" b="1" dirty="0">
                <a:solidFill>
                  <a:srgbClr val="1D6F8B"/>
                </a:solidFill>
                <a:latin typeface="Calibri" pitchFamily="34" charset="0"/>
                <a:ea typeface="Calibri" pitchFamily="34" charset="-122"/>
                <a:cs typeface="Calibri" pitchFamily="34" charset="-120"/>
              </a:rPr>
              <a:t>97</a:t>
            </a:r>
            <a:endParaRPr lang="en-US" sz="4000" dirty="0"/>
          </a:p>
        </p:txBody>
      </p:sp>
      <p:sp>
        <p:nvSpPr>
          <p:cNvPr id="8" name="Text 6"/>
          <p:cNvSpPr/>
          <p:nvPr/>
        </p:nvSpPr>
        <p:spPr>
          <a:xfrm>
            <a:off x="3651474" y="2560320"/>
            <a:ext cx="6534668" cy="960120"/>
          </a:xfrm>
          <a:prstGeom prst="rect">
            <a:avLst/>
          </a:prstGeom>
          <a:noFill/>
          <a:ln/>
        </p:spPr>
        <p:txBody>
          <a:bodyPr wrap="square" lIns="0" tIns="0" rIns="0" bIns="0" rtlCol="0" anchor="ctr"/>
          <a:lstStyle/>
          <a:p>
            <a:pPr indent="0" marL="0">
              <a:buNone/>
            </a:pPr>
            <a:r>
              <a:rPr lang="en-US" sz="1800" dirty="0">
                <a:solidFill>
                  <a:srgbClr val="1F2430"/>
                </a:solidFill>
                <a:latin typeface="Calibri" pitchFamily="34" charset="0"/>
                <a:ea typeface="Calibri" pitchFamily="34" charset="-122"/>
                <a:cs typeface="Calibri" pitchFamily="34" charset="-120"/>
              </a:rPr>
              <a:t>practices that address one of the ideas above</a:t>
            </a:r>
            <a:endParaRPr lang="en-US" sz="1800" dirty="0"/>
          </a:p>
        </p:txBody>
      </p:sp>
      <p:sp>
        <p:nvSpPr>
          <p:cNvPr id="9" name="Shape 7"/>
          <p:cNvSpPr/>
          <p:nvPr/>
        </p:nvSpPr>
        <p:spPr>
          <a:xfrm>
            <a:off x="2822387" y="3657600"/>
            <a:ext cx="6546921" cy="960120"/>
          </a:xfrm>
          <a:prstGeom prst="rect">
            <a:avLst/>
          </a:prstGeom>
          <a:solidFill>
            <a:srgbClr val="A9CBD8"/>
          </a:solidFill>
          <a:ln w="12700">
            <a:solidFill>
              <a:srgbClr val="A9CBD8"/>
            </a:solidFill>
            <a:prstDash val="solid"/>
          </a:ln>
        </p:spPr>
      </p:sp>
      <p:sp>
        <p:nvSpPr>
          <p:cNvPr id="10" name="Text 8"/>
          <p:cNvSpPr/>
          <p:nvPr/>
        </p:nvSpPr>
        <p:spPr>
          <a:xfrm>
            <a:off x="3096707" y="3657600"/>
            <a:ext cx="1554480" cy="960120"/>
          </a:xfrm>
          <a:prstGeom prst="rect">
            <a:avLst/>
          </a:prstGeom>
          <a:noFill/>
          <a:ln/>
        </p:spPr>
        <p:txBody>
          <a:bodyPr wrap="square" lIns="0" tIns="0" rIns="0" bIns="0" rtlCol="0" anchor="ctr"/>
          <a:lstStyle/>
          <a:p>
            <a:pPr indent="0" marL="0">
              <a:buNone/>
            </a:pPr>
            <a:r>
              <a:rPr lang="en-US" sz="4000" b="1" dirty="0">
                <a:solidFill>
                  <a:srgbClr val="1D6F8B"/>
                </a:solidFill>
                <a:latin typeface="Calibri" pitchFamily="34" charset="0"/>
                <a:ea typeface="Calibri" pitchFamily="34" charset="-122"/>
                <a:cs typeface="Calibri" pitchFamily="34" charset="-120"/>
              </a:rPr>
              <a:t>21</a:t>
            </a:r>
            <a:endParaRPr lang="en-US" sz="4000" dirty="0"/>
          </a:p>
        </p:txBody>
      </p:sp>
      <p:sp>
        <p:nvSpPr>
          <p:cNvPr id="11" name="Text 9"/>
          <p:cNvSpPr/>
          <p:nvPr/>
        </p:nvSpPr>
        <p:spPr>
          <a:xfrm>
            <a:off x="4742627" y="3657600"/>
            <a:ext cx="4352361" cy="960120"/>
          </a:xfrm>
          <a:prstGeom prst="rect">
            <a:avLst/>
          </a:prstGeom>
          <a:noFill/>
          <a:ln/>
        </p:spPr>
        <p:txBody>
          <a:bodyPr wrap="square" lIns="0" tIns="0" rIns="0" bIns="0" rtlCol="0" anchor="ctr"/>
          <a:lstStyle/>
          <a:p>
            <a:pPr indent="0" marL="0">
              <a:buNone/>
            </a:pPr>
            <a:r>
              <a:rPr lang="en-US" sz="1800" dirty="0">
                <a:solidFill>
                  <a:srgbClr val="1F2430"/>
                </a:solidFill>
                <a:latin typeface="Calibri" pitchFamily="34" charset="0"/>
                <a:ea typeface="Calibri" pitchFamily="34" charset="-122"/>
                <a:cs typeface="Calibri" pitchFamily="34" charset="-120"/>
              </a:rPr>
              <a:t>generalized practices: similar practices merged, sorted by number of courses</a:t>
            </a:r>
            <a:endParaRPr lang="en-US" sz="1800" dirty="0"/>
          </a:p>
        </p:txBody>
      </p:sp>
      <p:sp>
        <p:nvSpPr>
          <p:cNvPr id="12" name="Shape 10"/>
          <p:cNvSpPr/>
          <p:nvPr/>
        </p:nvSpPr>
        <p:spPr>
          <a:xfrm>
            <a:off x="3804425" y="4754880"/>
            <a:ext cx="4582845" cy="960120"/>
          </a:xfrm>
          <a:prstGeom prst="rect">
            <a:avLst/>
          </a:prstGeom>
          <a:solidFill>
            <a:srgbClr val="1D6F8B"/>
          </a:solidFill>
          <a:ln w="12700">
            <a:solidFill>
              <a:srgbClr val="1D6F8B"/>
            </a:solidFill>
            <a:prstDash val="solid"/>
          </a:ln>
        </p:spPr>
      </p:sp>
      <p:sp>
        <p:nvSpPr>
          <p:cNvPr id="13" name="Text 11"/>
          <p:cNvSpPr/>
          <p:nvPr/>
        </p:nvSpPr>
        <p:spPr>
          <a:xfrm>
            <a:off x="4078745" y="4754880"/>
            <a:ext cx="1554480" cy="9601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13</a:t>
            </a:r>
            <a:endParaRPr lang="en-US" sz="4000" dirty="0"/>
          </a:p>
        </p:txBody>
      </p:sp>
      <p:sp>
        <p:nvSpPr>
          <p:cNvPr id="14" name="Text 12"/>
          <p:cNvSpPr/>
          <p:nvPr/>
        </p:nvSpPr>
        <p:spPr>
          <a:xfrm>
            <a:off x="5724665" y="4754880"/>
            <a:ext cx="2388285" cy="9601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them used by 4 or more courses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911535" cy="822960"/>
          </a:xfrm>
          <a:prstGeom prst="rect">
            <a:avLst/>
          </a:prstGeom>
          <a:noFill/>
          <a:ln/>
        </p:spPr>
        <p:txBody>
          <a:bodyPr wrap="square" lIns="0" tIns="0" rIns="0" bIns="0" rtlCol="0" anchor="t"/>
          <a:lstStyle/>
          <a:p>
            <a:pPr indent="0" marL="0">
              <a:buNone/>
            </a:pPr>
            <a:r>
              <a:rPr lang="en-US" sz="3600" b="1" dirty="0">
                <a:solidFill>
                  <a:srgbClr val="1F2430"/>
                </a:solidFill>
                <a:latin typeface="Calibri" pitchFamily="34" charset="0"/>
                <a:ea typeface="Calibri" pitchFamily="34" charset="-122"/>
                <a:cs typeface="Calibri" pitchFamily="34" charset="-120"/>
              </a:rPr>
              <a:t>Generalized practices used by 4 or more courses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48640"/>
                <a:gridCol w="9265615"/>
                <a:gridCol w="1097280"/>
              </a:tblGrid>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The student is the author and answers for the result; AI assists</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The student does the task by hand before AI may help</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Specification or design document before code generation</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Reflections, reviews, and design documents are written without AI</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The student reviews and tests every generated output</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Architecture and module boundaries stay under human control</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An existing codebase must be understood before it is changed (inferred link)</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Oral check: the student explains the submitted work to staff</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9</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The student controls the context the AI sees</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How the student directed the AI is graded, not only the result</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11</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Written comparison of the student's own work with the LLM's output</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The student writes and defends an own opinion on how to use AI</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r h="365760">
                <a:tc>
                  <a:txBody>
                    <a:bodyPr/>
                    <a:lstStyle/>
                    <a:p>
                      <a:pPr algn="r" indent="0" marL="0">
                        <a:buNone/>
                      </a:pPr>
                      <a:r>
                        <a:rPr lang="en-US" sz="1700" dirty="0">
                          <a:solidFill>
                            <a:srgbClr val="6B7280"/>
                          </a:solidFill>
                          <a:latin typeface="Calibri" pitchFamily="34" charset="0"/>
                          <a:ea typeface="Calibri" pitchFamily="34" charset="-122"/>
                          <a:cs typeface="Calibri" pitchFamily="34" charset="-120"/>
                        </a:rPr>
                        <a:t>13</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700" dirty="0">
                          <a:solidFill>
                            <a:srgbClr val="1F2430"/>
                          </a:solidFill>
                          <a:latin typeface="Calibri" pitchFamily="34" charset="0"/>
                          <a:ea typeface="Calibri" pitchFamily="34" charset="-122"/>
                          <a:cs typeface="Calibri" pitchFamily="34" charset="-120"/>
                        </a:rPr>
                        <a:t>Guided experiment with a new AI workflow, plus a written report on the outcome</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700" b="1" dirty="0">
                          <a:solidFill>
                            <a:srgbClr val="1D6F8B"/>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10454335" y="987552"/>
            <a:ext cx="109728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courses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8</a:t>
            </a:r>
            <a:endParaRPr lang="en-US" sz="2400" dirty="0"/>
          </a:p>
        </p:txBody>
      </p:sp>
      <p:sp>
        <p:nvSpPr>
          <p:cNvPr id="4" name="Text 2"/>
          <p:cNvSpPr/>
          <p:nvPr/>
        </p:nvSpPr>
        <p:spPr>
          <a:xfrm>
            <a:off x="1600200" y="548640"/>
            <a:ext cx="9951415" cy="11430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student is the author and answers for the result; AI assists</a:t>
            </a:r>
            <a:endParaRPr lang="en-US" sz="3400" dirty="0"/>
          </a:p>
        </p:txBody>
      </p:sp>
      <p:sp>
        <p:nvSpPr>
          <p:cNvPr id="5" name="Text 3"/>
          <p:cNvSpPr/>
          <p:nvPr/>
        </p:nvSpPr>
        <p:spPr>
          <a:xfrm>
            <a:off x="640080" y="1828800"/>
            <a:ext cx="10911535" cy="914400"/>
          </a:xfrm>
          <a:prstGeom prst="rect">
            <a:avLst/>
          </a:prstGeom>
          <a:noFill/>
          <a:ln/>
        </p:spPr>
        <p:txBody>
          <a:bodyPr wrap="square" lIns="0" tIns="0" rIns="0" bIns="0" rtlCol="0" anchor="t"/>
          <a:lstStyle/>
          <a:p>
            <a:pPr indent="0" marL="0">
              <a:buNone/>
            </a:pPr>
            <a:r>
              <a:rPr lang="en-US" sz="2200" dirty="0">
                <a:solidFill>
                  <a:srgbClr val="1F2430"/>
                </a:solidFill>
                <a:latin typeface="Calibri" pitchFamily="34" charset="0"/>
                <a:ea typeface="Calibri" pitchFamily="34" charset="-122"/>
                <a:cs typeface="Calibri" pitchFamily="34" charset="-120"/>
              </a:rPr>
              <a:t>A policy or a rubric row separates two uses of AI: assisting the student's own work is allowed, producing the work from a description with the student as observer is not.</a:t>
            </a:r>
            <a:endParaRPr lang="en-US" sz="2200" dirty="0"/>
          </a:p>
        </p:txBody>
      </p:sp>
      <p:sp>
        <p:nvSpPr>
          <p:cNvPr id="6" name="Text 4"/>
          <p:cNvSpPr/>
          <p:nvPr/>
        </p:nvSpPr>
        <p:spPr>
          <a:xfrm>
            <a:off x="640080" y="2880360"/>
            <a:ext cx="10911535" cy="274320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You own the code that is merged and shipped, no blaming of the AI</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(Stanford)</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Failure: Over-relies on AI-generated text with little personalization, or submits uncritical/unmodified LLM output.</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(MIT)</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Describe the decision and how much you feel YOU made it, vs an agentic coding tool</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(UCSD)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4" name="Text 2"/>
          <p:cNvSpPr/>
          <p:nvPr/>
        </p:nvSpPr>
        <p:spPr>
          <a:xfrm>
            <a:off x="1600200" y="548640"/>
            <a:ext cx="9951415" cy="11430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student does the task by hand before AI may help</a:t>
            </a:r>
            <a:endParaRPr lang="en-US" sz="3400" dirty="0"/>
          </a:p>
        </p:txBody>
      </p:sp>
      <p:sp>
        <p:nvSpPr>
          <p:cNvPr id="5" name="Text 3"/>
          <p:cNvSpPr/>
          <p:nvPr/>
        </p:nvSpPr>
        <p:spPr>
          <a:xfrm>
            <a:off x="640080" y="1828800"/>
            <a:ext cx="10911535" cy="914400"/>
          </a:xfrm>
          <a:prstGeom prst="rect">
            <a:avLst/>
          </a:prstGeom>
          <a:noFill/>
          <a:ln/>
        </p:spPr>
        <p:txBody>
          <a:bodyPr wrap="square" lIns="0" tIns="0" rIns="0" bIns="0" rtlCol="0" anchor="t"/>
          <a:lstStyle/>
          <a:p>
            <a:pPr indent="0" marL="0">
              <a:buNone/>
            </a:pPr>
            <a:r>
              <a:rPr lang="en-US" sz="2200" dirty="0">
                <a:solidFill>
                  <a:srgbClr val="1F2430"/>
                </a:solidFill>
                <a:latin typeface="Calibri" pitchFamily="34" charset="0"/>
                <a:ea typeface="Calibri" pitchFamily="34" charset="-122"/>
                <a:cs typeface="Calibri" pitchFamily="34" charset="-120"/>
              </a:rPr>
              <a:t>The AI should amplify a skill the student already has, not replace the moment where the skill is learned.</a:t>
            </a:r>
            <a:endParaRPr lang="en-US" sz="2200" dirty="0"/>
          </a:p>
        </p:txBody>
      </p:sp>
      <p:sp>
        <p:nvSpPr>
          <p:cNvPr id="6" name="Text 4"/>
          <p:cNvSpPr/>
          <p:nvPr/>
        </p:nvSpPr>
        <p:spPr>
          <a:xfrm>
            <a:off x="640080" y="2880360"/>
            <a:ext cx="10911535" cy="274320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AI is banned on problem sets, allowed only in the final project</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(Harvard)</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Write the specification without AI before the coding agent sees it</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15‑113)</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Acceptable AI use includes to autocomplete the next bit, or to generate an alternative implementation for comparison</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(NUS)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4" name="Text 2"/>
          <p:cNvSpPr/>
          <p:nvPr/>
        </p:nvSpPr>
        <p:spPr>
          <a:xfrm>
            <a:off x="1600200"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Specification or design document before code generation</a:t>
            </a:r>
            <a:endParaRPr lang="en-US" sz="2600" dirty="0"/>
          </a:p>
        </p:txBody>
      </p:sp>
      <p:sp>
        <p:nvSpPr>
          <p:cNvPr id="5" name="Text 3"/>
          <p:cNvSpPr/>
          <p:nvPr/>
        </p:nvSpPr>
        <p:spPr>
          <a:xfrm>
            <a:off x="640080" y="2057400"/>
            <a:ext cx="5135728" cy="96012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A written document is the input to the AI should become a part of repository.</a:t>
            </a:r>
            <a:endParaRPr lang="en-US" sz="1800" dirty="0"/>
          </a:p>
        </p:txBody>
      </p:sp>
      <p:sp>
        <p:nvSpPr>
          <p:cNvPr id="6" name="Text 4"/>
          <p:cNvSpPr/>
          <p:nvPr/>
        </p:nvSpPr>
        <p:spPr>
          <a:xfrm>
            <a:off x="640080" y="315468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Spec per module, graded for consistency with the code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(MIT)</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Spec sections: goal, definitions, plan, source files to change, test cases, edge cases, what is out of scope, likely future extensions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Ask Claude to develop a design doc and commit it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(UMD)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Late requirement change with a written report of design impact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(UCSD)</a:t>
            </a:r>
            <a:endParaRPr lang="en-US" sz="1700" dirty="0"/>
          </a:p>
        </p:txBody>
      </p:sp>
      <p:sp>
        <p:nvSpPr>
          <p:cNvPr id="7" name="Shape 5"/>
          <p:cNvSpPr/>
          <p:nvPr/>
        </p:nvSpPr>
        <p:spPr>
          <a:xfrm>
            <a:off x="6415888" y="566928"/>
            <a:ext cx="777240" cy="777240"/>
          </a:xfrm>
          <a:prstGeom prst="ellipse">
            <a:avLst/>
          </a:prstGeom>
          <a:solidFill>
            <a:srgbClr val="1D6F8B"/>
          </a:solidFill>
          <a:ln w="12700">
            <a:solidFill>
              <a:srgbClr val="1D6F8B"/>
            </a:solidFill>
            <a:prstDash val="solid"/>
          </a:ln>
        </p:spPr>
      </p:sp>
      <p:sp>
        <p:nvSpPr>
          <p:cNvPr id="8" name="Text 6"/>
          <p:cNvSpPr/>
          <p:nvPr/>
        </p:nvSpPr>
        <p:spPr>
          <a:xfrm>
            <a:off x="6415888"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9" name="Text 7"/>
          <p:cNvSpPr/>
          <p:nvPr/>
        </p:nvSpPr>
        <p:spPr>
          <a:xfrm>
            <a:off x="7376008"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Architecture and module boundaries stay under human control</a:t>
            </a:r>
            <a:endParaRPr lang="en-US" sz="2600" dirty="0"/>
          </a:p>
        </p:txBody>
      </p:sp>
      <p:sp>
        <p:nvSpPr>
          <p:cNvPr id="10" name="Text 8"/>
          <p:cNvSpPr/>
          <p:nvPr/>
        </p:nvSpPr>
        <p:spPr>
          <a:xfrm>
            <a:off x="6415888" y="2057400"/>
            <a:ext cx="5135728" cy="96012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The course treats architecture as a place where LLM output is unreliable.</a:t>
            </a:r>
            <a:endParaRPr lang="en-US" sz="1800" dirty="0"/>
          </a:p>
        </p:txBody>
      </p:sp>
      <p:sp>
        <p:nvSpPr>
          <p:cNvPr id="11" name="Text 9"/>
          <p:cNvSpPr/>
          <p:nvPr/>
        </p:nvSpPr>
        <p:spPr>
          <a:xfrm>
            <a:off x="6415888" y="315468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Architecture and design document written without AI</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(UW)</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Generated architecture sections must be checked for internal contradictions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17‑316)</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The design template lists the only files a change may touch</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4" name="Text 2"/>
          <p:cNvSpPr/>
          <p:nvPr/>
        </p:nvSpPr>
        <p:spPr>
          <a:xfrm>
            <a:off x="1600200"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The student reviews and tests every generated output</a:t>
            </a:r>
            <a:endParaRPr lang="en-US" sz="2600" dirty="0"/>
          </a:p>
        </p:txBody>
      </p:sp>
      <p:sp>
        <p:nvSpPr>
          <p:cNvPr id="5" name="Text 3"/>
          <p:cNvSpPr/>
          <p:nvPr/>
        </p:nvSpPr>
        <p:spPr>
          <a:xfrm>
            <a:off x="640080"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Generated code, design, or specification is not accepted until the student checked it against an explicit standard. The depth of the review is graded.</a:t>
            </a:r>
            <a:endParaRPr lang="en-US" sz="1800" dirty="0"/>
          </a:p>
        </p:txBody>
      </p:sp>
      <p:sp>
        <p:nvSpPr>
          <p:cNvPr id="6" name="Text 4"/>
          <p:cNvSpPr/>
          <p:nvPr/>
        </p:nvSpPr>
        <p:spPr>
          <a:xfrm>
            <a:off x="640080"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Line-by-line review of every agent change on a branch; fixes explained in commit messages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Fixed review questions: do you understand it, where would it do the wrong thing, what is unneeded complexity</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(UMD)</a:t>
            </a:r>
            <a:endParaRPr lang="en-US" sz="1700" dirty="0"/>
          </a:p>
        </p:txBody>
      </p:sp>
      <p:sp>
        <p:nvSpPr>
          <p:cNvPr id="7" name="Shape 5"/>
          <p:cNvSpPr/>
          <p:nvPr/>
        </p:nvSpPr>
        <p:spPr>
          <a:xfrm>
            <a:off x="6415888" y="566928"/>
            <a:ext cx="777240" cy="777240"/>
          </a:xfrm>
          <a:prstGeom prst="ellipse">
            <a:avLst/>
          </a:prstGeom>
          <a:solidFill>
            <a:srgbClr val="1D6F8B"/>
          </a:solidFill>
          <a:ln w="12700">
            <a:solidFill>
              <a:srgbClr val="1D6F8B"/>
            </a:solidFill>
            <a:prstDash val="solid"/>
          </a:ln>
        </p:spPr>
      </p:sp>
      <p:sp>
        <p:nvSpPr>
          <p:cNvPr id="8" name="Text 6"/>
          <p:cNvSpPr/>
          <p:nvPr/>
        </p:nvSpPr>
        <p:spPr>
          <a:xfrm>
            <a:off x="6415888"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9" name="Text 7"/>
          <p:cNvSpPr/>
          <p:nvPr/>
        </p:nvSpPr>
        <p:spPr>
          <a:xfrm>
            <a:off x="7376008"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Oral check: the student explains the submitted work to staff</a:t>
            </a:r>
            <a:endParaRPr lang="en-US" sz="2600" dirty="0"/>
          </a:p>
        </p:txBody>
      </p:sp>
      <p:sp>
        <p:nvSpPr>
          <p:cNvPr id="10" name="Text 8"/>
          <p:cNvSpPr/>
          <p:nvPr/>
        </p:nvSpPr>
        <p:spPr>
          <a:xfrm>
            <a:off x="6415888"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Part of the grade depends on an in-person conversation. AI generation is tolerated if student can explain the result.</a:t>
            </a:r>
            <a:endParaRPr lang="en-US" sz="1800" dirty="0"/>
          </a:p>
        </p:txBody>
      </p:sp>
      <p:sp>
        <p:nvSpPr>
          <p:cNvPr id="11" name="Text 9"/>
          <p:cNvSpPr/>
          <p:nvPr/>
        </p:nvSpPr>
        <p:spPr>
          <a:xfrm>
            <a:off x="6415888"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Standing right to ask any student to explain any submission at any time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15‑113)</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A fixed share of points on every assignment is earned only in an office-hours defense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17‑445)</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Grade stays “pending” until an interview covers the code, the design, and what was AI-generated</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(UCSD)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4" name="Text 2"/>
          <p:cNvSpPr/>
          <p:nvPr/>
        </p:nvSpPr>
        <p:spPr>
          <a:xfrm>
            <a:off x="1600200"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Reflections, reviews, and design documents are written without AI</a:t>
            </a:r>
            <a:endParaRPr lang="en-US" sz="2600" dirty="0"/>
          </a:p>
        </p:txBody>
      </p:sp>
      <p:sp>
        <p:nvSpPr>
          <p:cNvPr id="5" name="Text 3"/>
          <p:cNvSpPr/>
          <p:nvPr/>
        </p:nvSpPr>
        <p:spPr>
          <a:xfrm>
            <a:off x="640080"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AI is allowed for code but banned for the prose about the work.</a:t>
            </a:r>
            <a:endParaRPr lang="en-US" sz="1800" dirty="0"/>
          </a:p>
        </p:txBody>
      </p:sp>
      <p:sp>
        <p:nvSpPr>
          <p:cNvPr id="6" name="Text 4"/>
          <p:cNvSpPr/>
          <p:nvPr/>
        </p:nvSpPr>
        <p:spPr>
          <a:xfrm>
            <a:off x="640080"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Six reflection essays during the term, defended in class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17‑316)</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The AI-disclosure statement itself must be human-written; “honest bullet points with typos” preferred</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17‑445)</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Everything except code: requirements, design, status reports, reflections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(UW)</a:t>
            </a:r>
            <a:endParaRPr lang="en-US" sz="1700" dirty="0"/>
          </a:p>
        </p:txBody>
      </p:sp>
      <p:sp>
        <p:nvSpPr>
          <p:cNvPr id="7" name="Shape 5"/>
          <p:cNvSpPr/>
          <p:nvPr/>
        </p:nvSpPr>
        <p:spPr>
          <a:xfrm>
            <a:off x="6415888" y="566928"/>
            <a:ext cx="777240" cy="777240"/>
          </a:xfrm>
          <a:prstGeom prst="ellipse">
            <a:avLst/>
          </a:prstGeom>
          <a:solidFill>
            <a:srgbClr val="1D6F8B"/>
          </a:solidFill>
          <a:ln w="12700">
            <a:solidFill>
              <a:srgbClr val="1D6F8B"/>
            </a:solidFill>
            <a:prstDash val="solid"/>
          </a:ln>
        </p:spPr>
      </p:sp>
      <p:sp>
        <p:nvSpPr>
          <p:cNvPr id="8" name="Text 6"/>
          <p:cNvSpPr/>
          <p:nvPr/>
        </p:nvSpPr>
        <p:spPr>
          <a:xfrm>
            <a:off x="6415888"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9" name="Text 7"/>
          <p:cNvSpPr/>
          <p:nvPr/>
        </p:nvSpPr>
        <p:spPr>
          <a:xfrm>
            <a:off x="7376008"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Comparison of the student's own work with the LLM's output</a:t>
            </a:r>
            <a:endParaRPr lang="en-US" sz="2600" dirty="0"/>
          </a:p>
        </p:txBody>
      </p:sp>
      <p:sp>
        <p:nvSpPr>
          <p:cNvPr id="10" name="Text 8"/>
          <p:cNvSpPr/>
          <p:nvPr/>
        </p:nvSpPr>
        <p:spPr>
          <a:xfrm>
            <a:off x="6415888"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Own version first, then the LLM's version, then a written verdict. Students build their own map of LLM strengths and weaknesses from their own cases.</a:t>
            </a:r>
            <a:endParaRPr lang="en-US" sz="1800" dirty="0"/>
          </a:p>
        </p:txBody>
      </p:sp>
      <p:sp>
        <p:nvSpPr>
          <p:cNvPr id="11" name="Text 9"/>
          <p:cNvSpPr/>
          <p:nvPr/>
        </p:nvSpPr>
        <p:spPr>
          <a:xfrm>
            <a:off x="6415888"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Own cust-dev interview summary written and set aside before prompting; then compare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17‑316)</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Own code review compared with an AI review per pull request, with written trust heuristics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Curated “interesting moments”: unexpectedly good or bad LLM output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(MIT)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4" name="Text 2"/>
          <p:cNvSpPr/>
          <p:nvPr/>
        </p:nvSpPr>
        <p:spPr>
          <a:xfrm>
            <a:off x="1600200"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The student controls the context the AI sees</a:t>
            </a:r>
            <a:endParaRPr lang="en-US" sz="2600" dirty="0"/>
          </a:p>
        </p:txBody>
      </p:sp>
      <p:sp>
        <p:nvSpPr>
          <p:cNvPr id="5" name="Text 3"/>
          <p:cNvSpPr/>
          <p:nvPr/>
        </p:nvSpPr>
        <p:spPr>
          <a:xfrm>
            <a:off x="640080"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Which files, documents, and rules the AI works from.</a:t>
            </a:r>
            <a:endParaRPr lang="en-US" sz="1800" dirty="0"/>
          </a:p>
        </p:txBody>
      </p:sp>
      <p:sp>
        <p:nvSpPr>
          <p:cNvPr id="6" name="Text 4"/>
          <p:cNvSpPr/>
          <p:nvPr/>
        </p:nvSpPr>
        <p:spPr>
          <a:xfrm>
            <a:off x="640080"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A staff-built tool forces explicit context selection and records every call with its full context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(MIT)</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Repository guidance files for agents, iterated like a prompt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Do not paste the assignment brief into the AI; write your own requirements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15‑113)</a:t>
            </a:r>
            <a:endParaRPr lang="en-US" sz="1700" dirty="0"/>
          </a:p>
        </p:txBody>
      </p:sp>
      <p:sp>
        <p:nvSpPr>
          <p:cNvPr id="7" name="Shape 5"/>
          <p:cNvSpPr/>
          <p:nvPr/>
        </p:nvSpPr>
        <p:spPr>
          <a:xfrm>
            <a:off x="6415888" y="566928"/>
            <a:ext cx="777240" cy="777240"/>
          </a:xfrm>
          <a:prstGeom prst="ellipse">
            <a:avLst/>
          </a:prstGeom>
          <a:solidFill>
            <a:srgbClr val="1D6F8B"/>
          </a:solidFill>
          <a:ln w="12700">
            <a:solidFill>
              <a:srgbClr val="1D6F8B"/>
            </a:solidFill>
            <a:prstDash val="solid"/>
          </a:ln>
        </p:spPr>
      </p:sp>
      <p:sp>
        <p:nvSpPr>
          <p:cNvPr id="8" name="Text 6"/>
          <p:cNvSpPr/>
          <p:nvPr/>
        </p:nvSpPr>
        <p:spPr>
          <a:xfrm>
            <a:off x="6415888"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9" name="Text 7"/>
          <p:cNvSpPr/>
          <p:nvPr/>
        </p:nvSpPr>
        <p:spPr>
          <a:xfrm>
            <a:off x="7376008"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How the student directed the AI is graded, not only the result</a:t>
            </a:r>
            <a:endParaRPr lang="en-US" sz="2600" dirty="0"/>
          </a:p>
        </p:txBody>
      </p:sp>
      <p:sp>
        <p:nvSpPr>
          <p:cNvPr id="10" name="Text 8"/>
          <p:cNvSpPr/>
          <p:nvPr/>
        </p:nvSpPr>
        <p:spPr>
          <a:xfrm>
            <a:off x="6415888"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The record of prompts and interventions is a deliverable with its own rubric criteria.</a:t>
            </a:r>
            <a:endParaRPr lang="en-US" sz="1800" dirty="0"/>
          </a:p>
        </p:txBody>
      </p:sp>
      <p:sp>
        <p:nvSpPr>
          <p:cNvPr id="11" name="Text 9"/>
          <p:cNvSpPr/>
          <p:nvPr/>
        </p:nvSpPr>
        <p:spPr>
          <a:xfrm>
            <a:off x="6415888"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Every LLM call saved in a record the student cannot edit; the record must show small, reflective steps</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(MIT)</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Graded both prompt and it's generated code.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Every intervention during a hands-off agent build is logged as evidence of specification quality</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15‑113)</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4" name="Text 2"/>
          <p:cNvSpPr/>
          <p:nvPr/>
        </p:nvSpPr>
        <p:spPr>
          <a:xfrm>
            <a:off x="1600200" y="548640"/>
            <a:ext cx="9951415" cy="11430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Extending an existing codebase</a:t>
            </a:r>
            <a:endParaRPr lang="en-US" sz="3400" dirty="0"/>
          </a:p>
        </p:txBody>
      </p:sp>
      <p:sp>
        <p:nvSpPr>
          <p:cNvPr id="5" name="Text 3"/>
          <p:cNvSpPr/>
          <p:nvPr/>
        </p:nvSpPr>
        <p:spPr>
          <a:xfrm>
            <a:off x="640080" y="1828800"/>
            <a:ext cx="10911535" cy="914400"/>
          </a:xfrm>
          <a:prstGeom prst="rect">
            <a:avLst/>
          </a:prstGeom>
          <a:noFill/>
          <a:ln/>
        </p:spPr>
        <p:txBody>
          <a:bodyPr wrap="square" lIns="0" tIns="0" rIns="0" bIns="0" rtlCol="0" anchor="t"/>
          <a:lstStyle/>
          <a:p>
            <a:pPr indent="0" marL="0">
              <a:buNone/>
            </a:pPr>
            <a:r>
              <a:rPr lang="en-US" sz="2200" dirty="0">
                <a:solidFill>
                  <a:srgbClr val="1F2430"/>
                </a:solidFill>
                <a:latin typeface="Calibri" pitchFamily="34" charset="0"/>
                <a:ea typeface="Calibri" pitchFamily="34" charset="-122"/>
                <a:cs typeface="Calibri" pitchFamily="34" charset="-120"/>
              </a:rPr>
              <a:t>The student works in code someone else built.</a:t>
            </a:r>
            <a:endParaRPr lang="en-US" sz="2200" dirty="0"/>
          </a:p>
        </p:txBody>
      </p:sp>
      <p:sp>
        <p:nvSpPr>
          <p:cNvPr id="6" name="Text 4"/>
          <p:cNvSpPr/>
          <p:nvPr/>
        </p:nvSpPr>
        <p:spPr>
          <a:xfrm>
            <a:off x="640080" y="2880360"/>
            <a:ext cx="10911535" cy="274320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Continue a classmate's unfinished AI-built game in one hour; at least 75% of the original code must stay</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15‑113)</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Every team extends the same staff-written program; a smaller feature built well scores higher than an original one built poorly</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(NUS)</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The first of four sprints produces no feature code: the team documents the architecture of the open-source system it will extend</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(Cornell)</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Refactoring is practiced on an unfamiliar program with planted design flaws; most of the assignment is reading</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17‑214)</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A multi-week project on a live production system is framed as a code review, not a build task</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(UMD)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4" name="Text 2"/>
          <p:cNvSpPr/>
          <p:nvPr/>
        </p:nvSpPr>
        <p:spPr>
          <a:xfrm>
            <a:off x="1600200"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The student writes and defends an own opinion on how to use AI</a:t>
            </a:r>
            <a:endParaRPr lang="en-US" sz="2600" dirty="0"/>
          </a:p>
        </p:txBody>
      </p:sp>
      <p:sp>
        <p:nvSpPr>
          <p:cNvPr id="5" name="Text 3"/>
          <p:cNvSpPr/>
          <p:nvPr/>
        </p:nvSpPr>
        <p:spPr>
          <a:xfrm>
            <a:off x="640080"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The student states, repeatedly, what they think about working with AI, grounded in their own experience. Depth and concreteness are graded, not agreement with the staff.</a:t>
            </a:r>
            <a:endParaRPr lang="en-US" sz="1800" dirty="0"/>
          </a:p>
        </p:txBody>
      </p:sp>
      <p:sp>
        <p:nvSpPr>
          <p:cNvPr id="6" name="Text 4"/>
          <p:cNvSpPr/>
          <p:nvPr/>
        </p:nvSpPr>
        <p:spPr>
          <a:xfrm>
            <a:off x="640080"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Six essays during the term, each on a different question from a shared bank, presented and defended in a class discussion</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17‑316)</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The final reflection asks what role LLMs should have in software development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(MIT)</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Two short reflections every week; a low score leads to a conversation with staff</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(UMD)</a:t>
            </a:r>
            <a:endParaRPr lang="en-US" sz="1700" dirty="0"/>
          </a:p>
        </p:txBody>
      </p:sp>
      <p:sp>
        <p:nvSpPr>
          <p:cNvPr id="7" name="Shape 5"/>
          <p:cNvSpPr/>
          <p:nvPr/>
        </p:nvSpPr>
        <p:spPr>
          <a:xfrm>
            <a:off x="6415888" y="566928"/>
            <a:ext cx="777240" cy="777240"/>
          </a:xfrm>
          <a:prstGeom prst="ellipse">
            <a:avLst/>
          </a:prstGeom>
          <a:solidFill>
            <a:srgbClr val="1D6F8B"/>
          </a:solidFill>
          <a:ln w="12700">
            <a:solidFill>
              <a:srgbClr val="1D6F8B"/>
            </a:solidFill>
            <a:prstDash val="solid"/>
          </a:ln>
        </p:spPr>
      </p:sp>
      <p:sp>
        <p:nvSpPr>
          <p:cNvPr id="8" name="Text 6"/>
          <p:cNvSpPr/>
          <p:nvPr/>
        </p:nvSpPr>
        <p:spPr>
          <a:xfrm>
            <a:off x="6415888"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9" name="Text 7"/>
          <p:cNvSpPr/>
          <p:nvPr/>
        </p:nvSpPr>
        <p:spPr>
          <a:xfrm>
            <a:off x="7376008" y="548640"/>
            <a:ext cx="4175608" cy="1371600"/>
          </a:xfrm>
          <a:prstGeom prst="rect">
            <a:avLst/>
          </a:prstGeom>
          <a:noFill/>
          <a:ln/>
        </p:spPr>
        <p:txBody>
          <a:bodyPr wrap="square" lIns="0" tIns="0" rIns="0" bIns="0" rtlCol="0" anchor="t"/>
          <a:lstStyle/>
          <a:p>
            <a:pPr indent="0" marL="0">
              <a:buNone/>
            </a:pPr>
            <a:r>
              <a:rPr lang="en-US" sz="2600" b="1" dirty="0">
                <a:solidFill>
                  <a:srgbClr val="1F2430"/>
                </a:solidFill>
                <a:latin typeface="Calibri" pitchFamily="34" charset="0"/>
                <a:ea typeface="Calibri" pitchFamily="34" charset="-122"/>
                <a:cs typeface="Calibri" pitchFamily="34" charset="-120"/>
              </a:rPr>
              <a:t>Guided AI-workflow experiment with a written report</a:t>
            </a:r>
            <a:endParaRPr lang="en-US" sz="2600" dirty="0"/>
          </a:p>
        </p:txBody>
      </p:sp>
      <p:sp>
        <p:nvSpPr>
          <p:cNvPr id="10" name="Text 8"/>
          <p:cNvSpPr/>
          <p:nvPr/>
        </p:nvSpPr>
        <p:spPr>
          <a:xfrm>
            <a:off x="6415888" y="2057400"/>
            <a:ext cx="5135728" cy="1325880"/>
          </a:xfrm>
          <a:prstGeom prst="rect">
            <a:avLst/>
          </a:prstGeom>
          <a:noFill/>
          <a:ln/>
        </p:spPr>
        <p:txBody>
          <a:bodyPr wrap="square" lIns="0" tIns="0" rIns="0" bIns="0" rtlCol="0" anchor="t"/>
          <a:lstStyle/>
          <a:p>
            <a:pPr indent="0" marL="0">
              <a:buNone/>
            </a:pPr>
            <a:r>
              <a:rPr lang="en-US" sz="1800" dirty="0">
                <a:solidFill>
                  <a:srgbClr val="1F2430"/>
                </a:solidFill>
                <a:latin typeface="Calibri" pitchFamily="34" charset="0"/>
                <a:ea typeface="Calibri" pitchFamily="34" charset="-122"/>
                <a:cs typeface="Calibri" pitchFamily="34" charset="-120"/>
              </a:rPr>
              <a:t>Staff set up an experiment with a way of working they do not fully understand either. The deliverable is a concrete report: which manual steps disappeared, what broke, which strategy got furthest.</a:t>
            </a:r>
            <a:endParaRPr lang="en-US" sz="1800" dirty="0"/>
          </a:p>
        </p:txBody>
      </p:sp>
      <p:sp>
        <p:nvSpPr>
          <p:cNvPr id="11" name="Text 9"/>
          <p:cNvSpPr/>
          <p:nvPr/>
        </p:nvSpPr>
        <p:spPr>
          <a:xfrm>
            <a:off x="6415888" y="3520440"/>
            <a:ext cx="5135728" cy="2743200"/>
          </a:xfrm>
          <a:prstGeom prst="rect">
            <a:avLst/>
          </a:prstGeom>
          <a:noFill/>
          <a:ln/>
        </p:spPr>
        <p:txBody>
          <a:bodyPr wrap="square" lIns="0" tIns="0" rIns="0" bIns="0" rtlCol="0" anchor="t"/>
          <a:lstStyle/>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Weekly assignments raise agent autonomy step by step: prompts only, then an editor, then an agent, then several agents, then an app generator</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Several agents at once on independent tasks; report what concurrency “gained, risked or broke”</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(Stanford)</a:t>
            </a:r>
            <a:endParaRPr lang="en-US" sz="1700" dirty="0"/>
          </a:p>
          <a:p>
            <a:pPr marL="279400" indent="-279400">
              <a:spcAft>
                <a:spcPts val="800"/>
              </a:spcAft>
              <a:buSzPct val="100000"/>
              <a:buChar char="•"/>
            </a:pPr>
            <a:r>
              <a:rPr lang="en-US" sz="1700" dirty="0">
                <a:solidFill>
                  <a:srgbClr val="1F2430"/>
                </a:solidFill>
                <a:latin typeface="Calibri" pitchFamily="34" charset="0"/>
                <a:ea typeface="Calibri" pitchFamily="34" charset="-122"/>
                <a:cs typeface="Calibri" pitchFamily="34" charset="-120"/>
              </a:rPr>
              <a:t>One hour to build a game with a self-chosen prompting strategy; next week the class compares which strategy got furthest</a:t>
            </a:r>
            <a:pPr indent="0" marL="0">
              <a:spcAft>
                <a:spcPts val="800"/>
              </a:spcAft>
              <a:buNone/>
            </a:pPr>
            <a:r>
              <a:rPr lang="en-US" sz="1700" dirty="0">
                <a:solidFill>
                  <a:srgbClr val="1D6F8B"/>
                </a:solidFill>
                <a:latin typeface="Calibri" pitchFamily="34" charset="0"/>
                <a:ea typeface="Calibri" pitchFamily="34" charset="-122"/>
                <a:cs typeface="Calibri" pitchFamily="34" charset="-120"/>
              </a:rPr>
              <a:t> (CMU 15‑113)</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40080" y="566928"/>
            <a:ext cx="777240" cy="777240"/>
          </a:xfrm>
          <a:prstGeom prst="ellipse">
            <a:avLst/>
          </a:prstGeom>
          <a:solidFill>
            <a:srgbClr val="1D6F8B"/>
          </a:solidFill>
          <a:ln w="12700">
            <a:solidFill>
              <a:srgbClr val="1D6F8B"/>
            </a:solidFill>
            <a:prstDash val="solid"/>
          </a:ln>
        </p:spPr>
      </p:sp>
      <p:sp>
        <p:nvSpPr>
          <p:cNvPr id="3" name="Text 1"/>
          <p:cNvSpPr/>
          <p:nvPr/>
        </p:nvSpPr>
        <p:spPr>
          <a:xfrm>
            <a:off x="640080" y="566928"/>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4" name="Text 2"/>
          <p:cNvSpPr/>
          <p:nvPr/>
        </p:nvSpPr>
        <p:spPr>
          <a:xfrm>
            <a:off x="1600200" y="548640"/>
            <a:ext cx="9951415" cy="11430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Generated output may be changed only by re-prompting, never by hand</a:t>
            </a:r>
            <a:endParaRPr lang="en-US" sz="3400" dirty="0"/>
          </a:p>
        </p:txBody>
      </p:sp>
      <p:sp>
        <p:nvSpPr>
          <p:cNvPr id="5" name="Text 3"/>
          <p:cNvSpPr/>
          <p:nvPr/>
        </p:nvSpPr>
        <p:spPr>
          <a:xfrm>
            <a:off x="640080" y="1828800"/>
            <a:ext cx="10911535" cy="914400"/>
          </a:xfrm>
          <a:prstGeom prst="rect">
            <a:avLst/>
          </a:prstGeom>
          <a:noFill/>
          <a:ln/>
        </p:spPr>
        <p:txBody>
          <a:bodyPr wrap="square" lIns="0" tIns="0" rIns="0" bIns="0" rtlCol="0" anchor="t"/>
          <a:lstStyle/>
          <a:p>
            <a:pPr indent="0" marL="0">
              <a:buNone/>
            </a:pPr>
            <a:r>
              <a:rPr lang="en-US" sz="2200" dirty="0">
                <a:solidFill>
                  <a:srgbClr val="1F2430"/>
                </a:solidFill>
                <a:latin typeface="Calibri" pitchFamily="34" charset="0"/>
                <a:ea typeface="Calibri" pitchFamily="34" charset="-122"/>
                <a:cs typeface="Calibri" pitchFamily="34" charset="-120"/>
              </a:rPr>
              <a:t>Every change goes through the AI. The quality of the student's prompts and specification becomes the only lever, so weak prompting is visible.</a:t>
            </a:r>
            <a:endParaRPr lang="en-US" sz="2200" dirty="0"/>
          </a:p>
        </p:txBody>
      </p:sp>
      <p:sp>
        <p:nvSpPr>
          <p:cNvPr id="6" name="Text 4"/>
          <p:cNvSpPr/>
          <p:nvPr/>
        </p:nvSpPr>
        <p:spPr>
          <a:xfrm>
            <a:off x="640080" y="2880360"/>
            <a:ext cx="10911535" cy="274320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Whole team project from the frontend milestone on: code and diagrams only by re-prompting, with prompt templates taught in class</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17‑316)</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Final slides and postmortem must also be LLM-generated, with a signed statement that they were edited only by prompting</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17‑316)</a:t>
            </a:r>
            <a:endParaRPr lang="en-US" sz="2000" dirty="0"/>
          </a:p>
          <a:p>
            <a:pPr marL="279400" indent="-279400">
              <a:spcAft>
                <a:spcPts val="800"/>
              </a:spcAft>
              <a:buSzPct val="100000"/>
              <a:buChar char="•"/>
            </a:pPr>
            <a:r>
              <a:rPr lang="en-US" sz="2000" dirty="0">
                <a:solidFill>
                  <a:srgbClr val="1F2430"/>
                </a:solidFill>
                <a:latin typeface="Calibri" pitchFamily="34" charset="0"/>
                <a:ea typeface="Calibri" pitchFamily="34" charset="-122"/>
                <a:cs typeface="Calibri" pitchFamily="34" charset="-120"/>
              </a:rPr>
              <a:t>One assignment: hands-off agent build from a student-written specification, every intervention logged</a:t>
            </a:r>
            <a:pPr indent="0" marL="0">
              <a:spcAft>
                <a:spcPts val="800"/>
              </a:spcAft>
              <a:buNone/>
            </a:pPr>
            <a:r>
              <a:rPr lang="en-US" sz="2000" dirty="0">
                <a:solidFill>
                  <a:srgbClr val="1D6F8B"/>
                </a:solidFill>
                <a:latin typeface="Calibri" pitchFamily="34" charset="0"/>
                <a:ea typeface="Calibri" pitchFamily="34" charset="-122"/>
                <a:cs typeface="Calibri" pitchFamily="34" charset="-120"/>
              </a:rPr>
              <a:t> (CMU 15‑113)</a:t>
            </a:r>
            <a:endParaRPr lang="en-US" sz="2000" dirty="0"/>
          </a:p>
        </p:txBody>
      </p:sp>
      <p:sp>
        <p:nvSpPr>
          <p:cNvPr id="7" name="Shape 5"/>
          <p:cNvSpPr/>
          <p:nvPr/>
        </p:nvSpPr>
        <p:spPr>
          <a:xfrm>
            <a:off x="640080" y="5120640"/>
            <a:ext cx="10911535" cy="960120"/>
          </a:xfrm>
          <a:prstGeom prst="rect">
            <a:avLst/>
          </a:prstGeom>
          <a:solidFill>
            <a:srgbClr val="E8F1F5"/>
          </a:solidFill>
          <a:ln w="12700">
            <a:solidFill>
              <a:srgbClr val="E8F1F5"/>
            </a:solidFill>
            <a:prstDash val="solid"/>
          </a:ln>
        </p:spPr>
      </p:sp>
      <p:sp>
        <p:nvSpPr>
          <p:cNvPr id="8" name="Text 6"/>
          <p:cNvSpPr/>
          <p:nvPr/>
        </p:nvSpPr>
        <p:spPr>
          <a:xfrm>
            <a:off x="914400" y="5166360"/>
            <a:ext cx="10362895" cy="86868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The counter-evidence from the same base. </a:t>
            </a:r>
            <a:pPr indent="0" marL="0">
              <a:buNone/>
            </a:pPr>
            <a:r>
              <a:rPr lang="en-US" sz="1600" dirty="0">
                <a:solidFill>
                  <a:srgbClr val="1F2430"/>
                </a:solidFill>
                <a:latin typeface="Calibri" pitchFamily="34" charset="0"/>
                <a:ea typeface="Calibri" pitchFamily="34" charset="-122"/>
                <a:cs typeface="Calibri" pitchFamily="34" charset="-120"/>
              </a:rPr>
              <a:t>In the CMU 15-113 survey, the two agentic assignments had the lowest “read the code” scores of the term, 3.2 and 2.9 of 7, with satisfaction as high as elsewhere. “I found this way of working caused me to not read my code at all.”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430"/>
        </a:solidFill>
      </p:bgPr>
    </p:bg>
    <p:spTree>
      <p:nvGrpSpPr>
        <p:cNvPr id="1" name=""/>
        <p:cNvGrpSpPr/>
        <p:nvPr/>
      </p:nvGrpSpPr>
      <p:grpSpPr>
        <a:xfrm>
          <a:off x="0" y="0"/>
          <a:ext cx="0" cy="0"/>
          <a:chOff x="0" y="0"/>
          <a:chExt cx="0" cy="0"/>
        </a:xfrm>
      </p:grpSpPr>
      <p:sp>
        <p:nvSpPr>
          <p:cNvPr id="2" name="Text 0"/>
          <p:cNvSpPr/>
          <p:nvPr/>
        </p:nvSpPr>
        <p:spPr>
          <a:xfrm>
            <a:off x="640080" y="5486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How to read these practices</a:t>
            </a:r>
            <a:endParaRPr lang="en-US" sz="3600" dirty="0"/>
          </a:p>
        </p:txBody>
      </p:sp>
      <p:sp>
        <p:nvSpPr>
          <p:cNvPr id="3" name="Text 1"/>
          <p:cNvSpPr/>
          <p:nvPr/>
        </p:nvSpPr>
        <p:spPr>
          <a:xfrm>
            <a:off x="640080" y="1737360"/>
            <a:ext cx="10911535" cy="3108960"/>
          </a:xfrm>
          <a:prstGeom prst="rect">
            <a:avLst/>
          </a:prstGeom>
          <a:noFill/>
          <a:ln/>
        </p:spPr>
        <p:txBody>
          <a:bodyPr wrap="square" lIns="0" tIns="0" rIns="0" bIns="0" rtlCol="0" anchor="t"/>
          <a:lstStyle/>
          <a:p>
            <a:pPr marL="279400" indent="-279400">
              <a:spcAft>
                <a:spcPts val="1800"/>
              </a:spcAft>
              <a:buSzPct val="100000"/>
              <a:buChar char="•"/>
            </a:pPr>
            <a:r>
              <a:rPr lang="en-US" sz="2600" dirty="0">
                <a:solidFill>
                  <a:srgbClr val="E6EDF1"/>
                </a:solidFill>
                <a:latin typeface="Calibri" pitchFamily="34" charset="0"/>
                <a:ea typeface="Calibri" pitchFamily="34" charset="-122"/>
                <a:cs typeface="Calibri" pitchFamily="34" charset="-120"/>
              </a:rPr>
              <a:t>A record of what courses do, not of what works.</a:t>
            </a:r>
            <a:endParaRPr lang="en-US" sz="2600" dirty="0"/>
          </a:p>
          <a:p>
            <a:pPr marL="279400" indent="-279400">
              <a:spcAft>
                <a:spcPts val="1800"/>
              </a:spcAft>
              <a:buSzPct val="100000"/>
              <a:buChar char="•"/>
            </a:pPr>
            <a:r>
              <a:rPr lang="en-US" sz="2600" dirty="0">
                <a:solidFill>
                  <a:srgbClr val="E6EDF1"/>
                </a:solidFill>
                <a:latin typeface="Calibri" pitchFamily="34" charset="0"/>
                <a:ea typeface="Calibri" pitchFamily="34" charset="-122"/>
                <a:cs typeface="Calibri" pitchFamily="34" charset="-120"/>
              </a:rPr>
              <a:t>Popular does not mean right.</a:t>
            </a:r>
            <a:endParaRPr lang="en-US" sz="2600" dirty="0"/>
          </a:p>
          <a:p>
            <a:pPr marL="279400" indent="-279400">
              <a:buSzPct val="100000"/>
              <a:buChar char="•"/>
            </a:pPr>
            <a:r>
              <a:rPr lang="en-US" sz="2600" dirty="0">
                <a:solidFill>
                  <a:srgbClr val="E6EDF1"/>
                </a:solidFill>
                <a:latin typeface="Calibri" pitchFamily="34" charset="0"/>
                <a:ea typeface="Calibri" pitchFamily="34" charset="-122"/>
                <a:cs typeface="Calibri" pitchFamily="34" charset="-120"/>
              </a:rPr>
              <a:t>Next offerings will show which practices survived and which appeared.</a:t>
            </a:r>
            <a:endParaRPr lang="en-US" sz="2600" dirty="0"/>
          </a:p>
        </p:txBody>
      </p:sp>
      <p:sp>
        <p:nvSpPr>
          <p:cNvPr id="4" name="Text 2">
            <a:hlinkClick r:id="rId1" tooltip=""/>
          </p:cNvPr>
          <p:cNvSpPr/>
          <p:nvPr/>
        </p:nvSpPr>
        <p:spPr>
          <a:xfrm>
            <a:off x="640080" y="5577840"/>
            <a:ext cx="10911535" cy="548640"/>
          </a:xfrm>
          <a:prstGeom prst="rect">
            <a:avLst/>
          </a:prstGeom>
          <a:noFill/>
          <a:ln/>
        </p:spPr>
        <p:txBody>
          <a:bodyPr wrap="square" lIns="0" tIns="0" rIns="0" bIns="0" rtlCol="0" anchor="ctr"/>
          <a:lstStyle/>
          <a:p>
            <a:pPr indent="0" marL="0">
              <a:buNone/>
            </a:pPr>
            <a:r>
              <a:rPr lang="en-US" sz="2600" b="1" u="sng" dirty="0">
                <a:solidFill>
                  <a:srgbClr val="8FD0E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github.com/xoposhiy/project-courses-research</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Software Projects with AI: Practices from 12 Courses</dc:title>
  <dc:subject>PptxGenJS Presentation</dc:subject>
  <dc:creator>Pavel Egorov</dc:creator>
  <cp:lastModifiedBy>Pavel Egorov</cp:lastModifiedBy>
  <cp:revision>1</cp:revision>
  <dcterms:created xsi:type="dcterms:W3CDTF">2026-09-20T20:22:29Z</dcterms:created>
  <dcterms:modified xsi:type="dcterms:W3CDTF">2026-09-20T20:22:29Z</dcterms:modified>
</cp:coreProperties>
</file>